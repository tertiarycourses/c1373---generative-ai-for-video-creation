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Generative AI for Video Creation</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C1373</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28 July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TRAINERS LISTED ON THE C1373 COURSE PAGE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Course Trainer Profiles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4187952"/>
          </a:xfrm>
          <a:prstGeom prst="rect">
            <a:avLst/>
          </a:prstGeom>
          <a:noFill/>
        </p:spPr>
        <p:txBody>
          <a:bodyPr wrap="square" anchor="ctr">
            <a:spAutoFit/>
          </a:bodyPr>
          <a:lstStyle/>
          <a:p>
            <a:pPr algn="l">
              <a:spcAft>
                <a:spcPts val="300"/>
              </a:spcAft>
            </a:pPr>
            <a:r>
              <a:rPr sz="1700" b="1">
                <a:solidFill>
                  <a:srgbClr val="161B26"/>
                </a:solidFill>
                <a:latin typeface="Arial"/>
              </a:rPr>
              <a:t>Allen Wong</a:t>
            </a:r>
          </a:p>
          <a:p>
            <a:pPr algn="l">
              <a:spcAft>
                <a:spcPts val="300"/>
              </a:spcAft>
            </a:pPr>
            <a:r>
              <a:rPr sz="1300" b="0">
                <a:solidFill>
                  <a:srgbClr val="5B6372"/>
                </a:solidFill>
                <a:latin typeface="Arial"/>
              </a:rPr>
              <a:t>Digital marketing strategist and ACTA-certified trainer with cross-industry experience in data-led campaigns, e-commerce growth and practical AI-assisted marketing.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name, role and the short-form channel or audience you work with.</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current experience with AI assistants, generated media or video editing.</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One production bottleneck and one trust risk you want this course to address.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MATERIALS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Access Course Materials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C1373 course page or the trainer-supplied Drive folder</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courseware links for this course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Learner Guide and Lesson Plan</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Activities folder for all 8 labs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 files together as you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500" b="1">
                <a:solidFill>
                  <a:srgbClr val="1F6FEB"/>
                </a:solidFill>
                <a:latin typeface="Arial"/>
              </a:rPr>
              <a:t>Course page:  https://www.tertiarycourses.com.sg/generative-ai-for-video-creation.html</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Lesson Plan — 2 Days, 15 instructional hours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Course sequence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Audience, prompts, ideas, scripts and a coherent content system</a:t>
            </a:r>
          </a:p>
          <a:p>
            <a:pPr>
              <a:spcAft>
                <a:spcPts val="1000"/>
              </a:spcAft>
            </a:pPr>
            <a:r>
              <a:rPr sz="1400" b="0">
                <a:solidFill>
                  <a:srgbClr val="5B6372"/>
                </a:solidFill>
                <a:latin typeface="Arial"/>
              </a:rPr>
              <a:t>–  Topic 1: Getting Started with Generative AI for TikTok (Labs 1–2)</a:t>
            </a:r>
          </a:p>
          <a:p>
            <a:pPr>
              <a:spcAft>
                <a:spcPts val="1000"/>
              </a:spcAft>
            </a:pPr>
            <a:r>
              <a:rPr sz="1400" b="0">
                <a:solidFill>
                  <a:srgbClr val="5B6372"/>
                </a:solidFill>
                <a:latin typeface="Arial"/>
              </a:rPr>
              <a:t>–  Topic 2: Generating Scripts, Ideas and Hooks with AI (Labs 3–4)</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Generated media, editing, publishing, analytics and scaled production</a:t>
            </a:r>
          </a:p>
          <a:p>
            <a:pPr>
              <a:spcAft>
                <a:spcPts val="1000"/>
              </a:spcAft>
            </a:pPr>
            <a:r>
              <a:rPr sz="1400" b="0">
                <a:solidFill>
                  <a:srgbClr val="5B6372"/>
                </a:solidFill>
                <a:latin typeface="Arial"/>
              </a:rPr>
              <a:t>–  Topic 3: Creating and Editing Videos with Generative AI (Labs 5–6)</a:t>
            </a:r>
          </a:p>
          <a:p>
            <a:pPr>
              <a:spcAft>
                <a:spcPts val="1000"/>
              </a:spcAft>
            </a:pPr>
            <a:r>
              <a:rPr sz="1400" b="0">
                <a:solidFill>
                  <a:srgbClr val="5B6372"/>
                </a:solidFill>
                <a:latin typeface="Arial"/>
              </a:rPr>
              <a:t>–  Topic 4: Publishing, Optimising and Scaling TikTok Content (Labs 7–8)</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9:30 am – 6:30 pm (1-hour lunch; two 15-minute tea breaks; 7.5 instructional hours)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Audience &amp; AI</a:t>
            </a:r>
          </a:p>
          <a:p>
            <a:pPr algn="l">
              <a:spcAft>
                <a:spcPts val="300"/>
              </a:spcAft>
            </a:pPr>
            <a:r>
              <a:rPr sz="1300" b="0">
                <a:solidFill>
                  <a:srgbClr val="5B6372"/>
                </a:solidFill>
                <a:latin typeface="Arial"/>
              </a:rPr>
              <a:t>Explain how short-form recommendation systems, audience signals and responsible generative AI practices shape video decisions.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Ideate &amp; Script</a:t>
            </a:r>
          </a:p>
          <a:p>
            <a:pPr algn="l">
              <a:spcAft>
                <a:spcPts val="300"/>
              </a:spcAft>
            </a:pPr>
            <a:r>
              <a:rPr sz="1300" b="0">
                <a:solidFill>
                  <a:srgbClr val="5B6372"/>
                </a:solidFill>
                <a:latin typeface="Arial"/>
              </a:rPr>
              <a:t>Use structured prompts to generate audience-relevant ideas, hooks, scripts, captions, hashtags and a coherent content plan.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Create &amp; Edit</a:t>
            </a:r>
          </a:p>
          <a:p>
            <a:pPr algn="l">
              <a:spcAft>
                <a:spcPts val="300"/>
              </a:spcAft>
            </a:pPr>
            <a:r>
              <a:rPr sz="1300" b="0">
                <a:solidFill>
                  <a:srgbClr val="5B6372"/>
                </a:solidFill>
                <a:latin typeface="Arial"/>
              </a:rPr>
              <a:t>Create and edit a brand-consistent vertical video with generated visuals, voiceover, captions, sound and a documented rights check.</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Publish &amp; Improve</a:t>
            </a:r>
          </a:p>
          <a:p>
            <a:pPr algn="l">
              <a:spcAft>
                <a:spcPts val="300"/>
              </a:spcAft>
            </a:pPr>
            <a:r>
              <a:rPr sz="1300" b="0">
                <a:solidFill>
                  <a:srgbClr val="5B6372"/>
                </a:solidFill>
                <a:latin typeface="Arial"/>
              </a:rPr>
              <a:t>Prepare, publish, analyse, repurpose and scale short-form video content through an evidence-led production workflow.</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The Human-Led AI Video Production System</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Six Ideas That Keep Video Useful and Trustworthy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Audience before output</a:t>
            </a:r>
          </a:p>
          <a:p>
            <a:pPr algn="l">
              <a:spcAft>
                <a:spcPts val="300"/>
              </a:spcAft>
            </a:pPr>
            <a:r>
              <a:rPr sz="1300" b="0">
                <a:solidFill>
                  <a:srgbClr val="5B6372"/>
                </a:solidFill>
                <a:latin typeface="Arial"/>
              </a:rPr>
              <a:t>Start with a real viewer job, not an exciting generator feature.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One promise</a:t>
            </a:r>
          </a:p>
          <a:p>
            <a:pPr algn="l">
              <a:spcAft>
                <a:spcPts val="300"/>
              </a:spcAft>
            </a:pPr>
            <a:r>
              <a:rPr sz="1300" b="0">
                <a:solidFill>
                  <a:srgbClr val="5B6372"/>
                </a:solidFill>
                <a:latin typeface="Arial"/>
              </a:rPr>
              <a:t>Every short video earns attention by making and fulfilling one clear promise.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Proof boundary</a:t>
            </a:r>
          </a:p>
          <a:p>
            <a:pPr algn="l">
              <a:spcAft>
                <a:spcPts val="300"/>
              </a:spcAft>
            </a:pPr>
            <a:r>
              <a:rPr sz="1300" b="0">
                <a:solidFill>
                  <a:srgbClr val="5B6372"/>
                </a:solidFill>
                <a:latin typeface="Arial"/>
              </a:rPr>
              <a:t>Use approved facts and mark unknowns instead of asking AI to fill gaps.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Scene function</a:t>
            </a:r>
          </a:p>
          <a:p>
            <a:pPr algn="l">
              <a:spcAft>
                <a:spcPts val="300"/>
              </a:spcAft>
            </a:pPr>
            <a:r>
              <a:rPr sz="1300" b="0">
                <a:solidFill>
                  <a:srgbClr val="5B6372"/>
                </a:solidFill>
                <a:latin typeface="Arial"/>
              </a:rPr>
              <a:t>Each visual or sound orients, demonstrates, proves, transitions or closes.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Rights and disclosure</a:t>
            </a:r>
          </a:p>
          <a:p>
            <a:pPr algn="l">
              <a:spcAft>
                <a:spcPts val="300"/>
              </a:spcAft>
            </a:pPr>
            <a:r>
              <a:rPr sz="1300" b="0">
                <a:solidFill>
                  <a:srgbClr val="5B6372"/>
                </a:solidFill>
                <a:latin typeface="Arial"/>
              </a:rPr>
              <a:t>Record source, permission, commercial status and significant AI alteration.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Learn through signals</a:t>
            </a:r>
          </a:p>
          <a:p>
            <a:pPr algn="l">
              <a:spcAft>
                <a:spcPts val="300"/>
              </a:spcAft>
            </a:pPr>
            <a:r>
              <a:rPr sz="1300" b="0">
                <a:solidFill>
                  <a:srgbClr val="5B6372"/>
                </a:solidFill>
                <a:latin typeface="Arial"/>
              </a:rPr>
              <a:t>Use relevant metrics and one-variable tests, not algorithm myths.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A-P-P-S-O-R Prompt Pattern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Audience</a:t>
            </a:r>
          </a:p>
          <a:p>
            <a:pPr algn="l">
              <a:spcAft>
                <a:spcPts val="300"/>
              </a:spcAft>
            </a:pPr>
            <a:r>
              <a:rPr sz="1200" b="0">
                <a:solidFill>
                  <a:srgbClr val="5B6372"/>
                </a:solidFill>
                <a:latin typeface="Arial"/>
              </a:rPr>
              <a:t>Name the viewer, situation, tension and desired outcome.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Purpose</a:t>
            </a:r>
          </a:p>
          <a:p>
            <a:pPr algn="l">
              <a:spcAft>
                <a:spcPts val="300"/>
              </a:spcAft>
            </a:pPr>
            <a:r>
              <a:rPr sz="1200" b="0">
                <a:solidFill>
                  <a:srgbClr val="5B6372"/>
                </a:solidFill>
                <a:latin typeface="Arial"/>
              </a:rPr>
              <a:t>State the one job the content should perform.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Proof</a:t>
            </a:r>
          </a:p>
          <a:p>
            <a:pPr algn="l">
              <a:spcAft>
                <a:spcPts val="300"/>
              </a:spcAft>
            </a:pPr>
            <a:r>
              <a:rPr sz="1200" b="0">
                <a:solidFill>
                  <a:srgbClr val="5B6372"/>
                </a:solidFill>
                <a:latin typeface="Arial"/>
              </a:rPr>
              <a:t>Supply approved facts, examples and source boundaries.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Style</a:t>
            </a:r>
          </a:p>
          <a:p>
            <a:pPr algn="l">
              <a:spcAft>
                <a:spcPts val="300"/>
              </a:spcAft>
            </a:pPr>
            <a:r>
              <a:rPr sz="1200" b="0">
                <a:solidFill>
                  <a:srgbClr val="5B6372"/>
                </a:solidFill>
                <a:latin typeface="Arial"/>
              </a:rPr>
              <a:t>Set voice, visual, pacing, brand and avoid rules.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Output</a:t>
            </a:r>
          </a:p>
          <a:p>
            <a:pPr algn="l">
              <a:spcAft>
                <a:spcPts val="300"/>
              </a:spcAft>
            </a:pPr>
            <a:r>
              <a:rPr sz="1200" b="0">
                <a:solidFill>
                  <a:srgbClr val="5B6372"/>
                </a:solidFill>
                <a:latin typeface="Arial"/>
              </a:rPr>
              <a:t>Specify concepts, duration, beats, columns and file hand-off.</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Review</a:t>
            </a:r>
          </a:p>
          <a:p>
            <a:pPr algn="l">
              <a:spcAft>
                <a:spcPts val="300"/>
              </a:spcAft>
            </a:pPr>
            <a:r>
              <a:rPr sz="1200" b="0">
                <a:solidFill>
                  <a:srgbClr val="5B6372"/>
                </a:solidFill>
                <a:latin typeface="Arial"/>
              </a:rPr>
              <a:t>Require truth, rights, disclosure, accessibility and feasibility checks.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CORE IDEA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AI accelerates production; people own the promise, proof and publish decision.</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 strong short-form workflow combines creative variation with audience relevance, traceable assets and deliberate human review.</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Will Build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19933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438912"/>
          </a:xfrm>
          <a:prstGeom prst="rect">
            <a:avLst/>
          </a:prstGeom>
          <a:noFill/>
        </p:spPr>
        <p:txBody>
          <a:bodyPr wrap="square" anchor="t">
            <a:spAutoFit/>
          </a:bodyPr>
          <a:lstStyle/>
          <a:p>
            <a:pPr algn="l">
              <a:spcAft>
                <a:spcPts val="400"/>
              </a:spcAft>
            </a:pPr>
            <a:r>
              <a:rPr sz="1800" b="1">
                <a:solidFill>
                  <a:srgbClr val="1F6FEB"/>
                </a:solidFill>
                <a:latin typeface="Arial"/>
              </a:rPr>
              <a:t>Discover</a:t>
            </a:r>
          </a:p>
        </p:txBody>
      </p:sp>
      <p:sp>
        <p:nvSpPr>
          <p:cNvPr id="10" name="TextBox 9"/>
          <p:cNvSpPr txBox="1"/>
          <p:nvPr/>
        </p:nvSpPr>
        <p:spPr>
          <a:xfrm>
            <a:off x="1005840" y="2468880"/>
            <a:ext cx="4754880" cy="1078992"/>
          </a:xfrm>
          <a:prstGeom prst="rect">
            <a:avLst/>
          </a:prstGeom>
          <a:noFill/>
        </p:spPr>
        <p:txBody>
          <a:bodyPr wrap="square">
            <a:spAutoFit/>
          </a:bodyPr>
          <a:lstStyle/>
          <a:p>
            <a:pPr>
              <a:spcAft>
                <a:spcPts val="500"/>
              </a:spcAft>
            </a:pPr>
            <a:r>
              <a:rPr sz="1400" b="0">
                <a:solidFill>
                  <a:srgbClr val="161B26"/>
                </a:solidFill>
                <a:latin typeface="Arial"/>
              </a:rPr>
              <a:t>•  An audience and prompt brief</a:t>
            </a:r>
          </a:p>
          <a:p>
            <a:pPr>
              <a:spcAft>
                <a:spcPts val="500"/>
              </a:spcAft>
            </a:pPr>
            <a:r>
              <a:rPr sz="1400" b="0">
                <a:solidFill>
                  <a:srgbClr val="161B26"/>
                </a:solidFill>
                <a:latin typeface="Arial"/>
              </a:rPr>
              <a:t>•  A scored idea bank with hook alternatives</a:t>
            </a:r>
          </a:p>
        </p:txBody>
      </p:sp>
      <p:sp>
        <p:nvSpPr>
          <p:cNvPr id="11" name="Rectangle 10"/>
          <p:cNvSpPr/>
          <p:nvPr/>
        </p:nvSpPr>
        <p:spPr>
          <a:xfrm>
            <a:off x="6172200" y="1783080"/>
            <a:ext cx="5212080" cy="19933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52120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965960"/>
            <a:ext cx="4754880" cy="438912"/>
          </a:xfrm>
          <a:prstGeom prst="rect">
            <a:avLst/>
          </a:prstGeom>
          <a:noFill/>
        </p:spPr>
        <p:txBody>
          <a:bodyPr wrap="square" anchor="t">
            <a:spAutoFit/>
          </a:bodyPr>
          <a:lstStyle/>
          <a:p>
            <a:pPr algn="l">
              <a:spcAft>
                <a:spcPts val="400"/>
              </a:spcAft>
            </a:pPr>
            <a:r>
              <a:rPr sz="1800" b="1">
                <a:solidFill>
                  <a:srgbClr val="10B981"/>
                </a:solidFill>
                <a:latin typeface="Arial"/>
              </a:rPr>
              <a:t>Design</a:t>
            </a:r>
          </a:p>
        </p:txBody>
      </p:sp>
      <p:sp>
        <p:nvSpPr>
          <p:cNvPr id="14" name="TextBox 13"/>
          <p:cNvSpPr txBox="1"/>
          <p:nvPr/>
        </p:nvSpPr>
        <p:spPr>
          <a:xfrm>
            <a:off x="6400800" y="2468880"/>
            <a:ext cx="4754880" cy="1078992"/>
          </a:xfrm>
          <a:prstGeom prst="rect">
            <a:avLst/>
          </a:prstGeom>
          <a:noFill/>
        </p:spPr>
        <p:txBody>
          <a:bodyPr wrap="square">
            <a:spAutoFit/>
          </a:bodyPr>
          <a:lstStyle/>
          <a:p>
            <a:pPr>
              <a:spcAft>
                <a:spcPts val="500"/>
              </a:spcAft>
            </a:pPr>
            <a:r>
              <a:rPr sz="1400" b="0">
                <a:solidFill>
                  <a:srgbClr val="161B26"/>
                </a:solidFill>
                <a:latin typeface="Arial"/>
              </a:rPr>
              <a:t>•  A timed script and storyboard</a:t>
            </a:r>
          </a:p>
          <a:p>
            <a:pPr>
              <a:spcAft>
                <a:spcPts val="500"/>
              </a:spcAft>
            </a:pPr>
            <a:r>
              <a:rPr sz="1400" b="0">
                <a:solidFill>
                  <a:srgbClr val="161B26"/>
                </a:solidFill>
                <a:latin typeface="Arial"/>
              </a:rPr>
              <a:t>•  A four-week brand-consistent content system</a:t>
            </a:r>
          </a:p>
        </p:txBody>
      </p:sp>
      <p:sp>
        <p:nvSpPr>
          <p:cNvPr id="15" name="Rectangle 14"/>
          <p:cNvSpPr/>
          <p:nvPr/>
        </p:nvSpPr>
        <p:spPr>
          <a:xfrm>
            <a:off x="777240" y="3977639"/>
            <a:ext cx="5212080" cy="19933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977639"/>
            <a:ext cx="521208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160519"/>
            <a:ext cx="4754880" cy="438912"/>
          </a:xfrm>
          <a:prstGeom prst="rect">
            <a:avLst/>
          </a:prstGeom>
          <a:noFill/>
        </p:spPr>
        <p:txBody>
          <a:bodyPr wrap="square" anchor="t">
            <a:spAutoFit/>
          </a:bodyPr>
          <a:lstStyle/>
          <a:p>
            <a:pPr algn="l">
              <a:spcAft>
                <a:spcPts val="400"/>
              </a:spcAft>
            </a:pPr>
            <a:r>
              <a:rPr sz="1800" b="1">
                <a:solidFill>
                  <a:srgbClr val="7C3AED"/>
                </a:solidFill>
                <a:latin typeface="Arial"/>
              </a:rPr>
              <a:t>Produce</a:t>
            </a:r>
          </a:p>
        </p:txBody>
      </p:sp>
      <p:sp>
        <p:nvSpPr>
          <p:cNvPr id="18" name="TextBox 17"/>
          <p:cNvSpPr txBox="1"/>
          <p:nvPr/>
        </p:nvSpPr>
        <p:spPr>
          <a:xfrm>
            <a:off x="1005840" y="4663439"/>
            <a:ext cx="4754880" cy="1078992"/>
          </a:xfrm>
          <a:prstGeom prst="rect">
            <a:avLst/>
          </a:prstGeom>
          <a:noFill/>
        </p:spPr>
        <p:txBody>
          <a:bodyPr wrap="square">
            <a:spAutoFit/>
          </a:bodyPr>
          <a:lstStyle/>
          <a:p>
            <a:pPr>
              <a:spcAft>
                <a:spcPts val="500"/>
              </a:spcAft>
            </a:pPr>
            <a:r>
              <a:rPr sz="1400" b="0">
                <a:solidFill>
                  <a:srgbClr val="161B26"/>
                </a:solidFill>
                <a:latin typeface="Arial"/>
              </a:rPr>
              <a:t>•  A generated asset and rights register</a:t>
            </a:r>
          </a:p>
          <a:p>
            <a:pPr>
              <a:spcAft>
                <a:spcPts val="500"/>
              </a:spcAft>
            </a:pPr>
            <a:r>
              <a:rPr sz="1400" b="0">
                <a:solidFill>
                  <a:srgbClr val="161B26"/>
                </a:solidFill>
                <a:latin typeface="Arial"/>
              </a:rPr>
              <a:t>•  A captioned vertical review export</a:t>
            </a:r>
          </a:p>
        </p:txBody>
      </p:sp>
      <p:sp>
        <p:nvSpPr>
          <p:cNvPr id="19" name="Rectangle 18"/>
          <p:cNvSpPr/>
          <p:nvPr/>
        </p:nvSpPr>
        <p:spPr>
          <a:xfrm>
            <a:off x="6172200" y="3977639"/>
            <a:ext cx="5212080" cy="19933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3977639"/>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4160519"/>
            <a:ext cx="4754880" cy="438912"/>
          </a:xfrm>
          <a:prstGeom prst="rect">
            <a:avLst/>
          </a:prstGeom>
          <a:noFill/>
        </p:spPr>
        <p:txBody>
          <a:bodyPr wrap="square" anchor="t">
            <a:spAutoFit/>
          </a:bodyPr>
          <a:lstStyle/>
          <a:p>
            <a:pPr algn="l">
              <a:spcAft>
                <a:spcPts val="400"/>
              </a:spcAft>
            </a:pPr>
            <a:r>
              <a:rPr sz="1800" b="1">
                <a:solidFill>
                  <a:srgbClr val="1F6FEB"/>
                </a:solidFill>
                <a:latin typeface="Arial"/>
              </a:rPr>
              <a:t>Improve</a:t>
            </a:r>
          </a:p>
        </p:txBody>
      </p:sp>
      <p:sp>
        <p:nvSpPr>
          <p:cNvPr id="22" name="TextBox 21"/>
          <p:cNvSpPr txBox="1"/>
          <p:nvPr/>
        </p:nvSpPr>
        <p:spPr>
          <a:xfrm>
            <a:off x="6400800" y="4663439"/>
            <a:ext cx="4754880" cy="1078992"/>
          </a:xfrm>
          <a:prstGeom prst="rect">
            <a:avLst/>
          </a:prstGeom>
          <a:noFill/>
        </p:spPr>
        <p:txBody>
          <a:bodyPr wrap="square">
            <a:spAutoFit/>
          </a:bodyPr>
          <a:lstStyle/>
          <a:p>
            <a:pPr>
              <a:spcAft>
                <a:spcPts val="500"/>
              </a:spcAft>
            </a:pPr>
            <a:r>
              <a:rPr sz="1400" b="0">
                <a:solidFill>
                  <a:srgbClr val="161B26"/>
                </a:solidFill>
                <a:latin typeface="Arial"/>
              </a:rPr>
              <a:t>•  A publish and adaptation pack</a:t>
            </a:r>
          </a:p>
          <a:p>
            <a:pPr>
              <a:spcAft>
                <a:spcPts val="500"/>
              </a:spcAft>
            </a:pPr>
            <a:r>
              <a:rPr sz="1400" b="0">
                <a:solidFill>
                  <a:srgbClr val="161B26"/>
                </a:solidFill>
                <a:latin typeface="Arial"/>
              </a:rPr>
              <a:t>•  An analytics-led iteration and scaling plan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Eight-Lab Learning Arc</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950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9509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13055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14884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804672"/>
          </a:xfrm>
          <a:prstGeom prst="rect">
            <a:avLst/>
          </a:prstGeom>
          <a:noFill/>
        </p:spPr>
        <p:txBody>
          <a:bodyPr wrap="square" anchor="ctr">
            <a:spAutoFit/>
          </a:bodyPr>
          <a:lstStyle/>
          <a:p>
            <a:pPr algn="l">
              <a:spcAft>
                <a:spcPts val="400"/>
              </a:spcAft>
            </a:pPr>
            <a:r>
              <a:rPr sz="1200" b="0">
                <a:solidFill>
                  <a:srgbClr val="161B26"/>
                </a:solidFill>
                <a:latin typeface="Arial"/>
              </a:rPr>
              <a:t>Brief — define the audience, source facts, tool roles and responsible-use boundary.</a:t>
            </a:r>
          </a:p>
        </p:txBody>
      </p:sp>
      <p:sp>
        <p:nvSpPr>
          <p:cNvPr id="12" name="Rectangle 11"/>
          <p:cNvSpPr/>
          <p:nvPr/>
        </p:nvSpPr>
        <p:spPr>
          <a:xfrm>
            <a:off x="6176772" y="1828800"/>
            <a:ext cx="5234940" cy="950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9509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13055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14884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804672"/>
          </a:xfrm>
          <a:prstGeom prst="rect">
            <a:avLst/>
          </a:prstGeom>
          <a:noFill/>
        </p:spPr>
        <p:txBody>
          <a:bodyPr wrap="square" anchor="ctr">
            <a:spAutoFit/>
          </a:bodyPr>
          <a:lstStyle/>
          <a:p>
            <a:pPr algn="l">
              <a:spcAft>
                <a:spcPts val="400"/>
              </a:spcAft>
            </a:pPr>
            <a:r>
              <a:rPr sz="1200" b="0">
                <a:solidFill>
                  <a:srgbClr val="161B26"/>
                </a:solidFill>
                <a:latin typeface="Arial"/>
              </a:rPr>
              <a:t>Explore — generate distinct angles and hooks, then select with explicit criteria.</a:t>
            </a:r>
          </a:p>
        </p:txBody>
      </p:sp>
      <p:sp>
        <p:nvSpPr>
          <p:cNvPr id="17" name="Rectangle 16"/>
          <p:cNvSpPr/>
          <p:nvPr/>
        </p:nvSpPr>
        <p:spPr>
          <a:xfrm>
            <a:off x="777240" y="2944368"/>
            <a:ext cx="5234940" cy="950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44368"/>
            <a:ext cx="64008" cy="9509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24612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26440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017520"/>
            <a:ext cx="4338828" cy="804672"/>
          </a:xfrm>
          <a:prstGeom prst="rect">
            <a:avLst/>
          </a:prstGeom>
          <a:noFill/>
        </p:spPr>
        <p:txBody>
          <a:bodyPr wrap="square" anchor="ctr">
            <a:spAutoFit/>
          </a:bodyPr>
          <a:lstStyle/>
          <a:p>
            <a:pPr algn="l">
              <a:spcAft>
                <a:spcPts val="400"/>
              </a:spcAft>
            </a:pPr>
            <a:r>
              <a:rPr sz="1200" b="0">
                <a:solidFill>
                  <a:srgbClr val="161B26"/>
                </a:solidFill>
                <a:latin typeface="Arial"/>
              </a:rPr>
              <a:t>Script — coordinate spoken line, visual, on-screen text and timing.</a:t>
            </a:r>
          </a:p>
        </p:txBody>
      </p:sp>
      <p:sp>
        <p:nvSpPr>
          <p:cNvPr id="22" name="Rectangle 21"/>
          <p:cNvSpPr/>
          <p:nvPr/>
        </p:nvSpPr>
        <p:spPr>
          <a:xfrm>
            <a:off x="6176772" y="2944368"/>
            <a:ext cx="5234940" cy="950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2944368"/>
            <a:ext cx="64008" cy="9509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24612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26440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017520"/>
            <a:ext cx="4338828" cy="804672"/>
          </a:xfrm>
          <a:prstGeom prst="rect">
            <a:avLst/>
          </a:prstGeom>
          <a:noFill/>
        </p:spPr>
        <p:txBody>
          <a:bodyPr wrap="square" anchor="ctr">
            <a:spAutoFit/>
          </a:bodyPr>
          <a:lstStyle/>
          <a:p>
            <a:pPr algn="l">
              <a:spcAft>
                <a:spcPts val="400"/>
              </a:spcAft>
            </a:pPr>
            <a:r>
              <a:rPr sz="1200" b="0">
                <a:solidFill>
                  <a:srgbClr val="161B26"/>
                </a:solidFill>
                <a:latin typeface="Arial"/>
              </a:rPr>
              <a:t>Systemise — turn the same brand promise into a sustainable content calendar.</a:t>
            </a:r>
          </a:p>
        </p:txBody>
      </p:sp>
      <p:sp>
        <p:nvSpPr>
          <p:cNvPr id="27" name="Rectangle 26"/>
          <p:cNvSpPr/>
          <p:nvPr/>
        </p:nvSpPr>
        <p:spPr>
          <a:xfrm>
            <a:off x="777240" y="4059936"/>
            <a:ext cx="5234940" cy="950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59936"/>
            <a:ext cx="64008" cy="9509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436168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437997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133088"/>
            <a:ext cx="4338828" cy="804672"/>
          </a:xfrm>
          <a:prstGeom prst="rect">
            <a:avLst/>
          </a:prstGeom>
          <a:noFill/>
        </p:spPr>
        <p:txBody>
          <a:bodyPr wrap="square" anchor="ctr">
            <a:spAutoFit/>
          </a:bodyPr>
          <a:lstStyle/>
          <a:p>
            <a:pPr algn="l">
              <a:spcAft>
                <a:spcPts val="400"/>
              </a:spcAft>
            </a:pPr>
            <a:r>
              <a:rPr sz="1200" b="0">
                <a:solidFill>
                  <a:srgbClr val="161B26"/>
                </a:solidFill>
                <a:latin typeface="Arial"/>
              </a:rPr>
              <a:t>Generate — create candidate visuals and voice with provenance and quality checks.</a:t>
            </a:r>
          </a:p>
        </p:txBody>
      </p:sp>
      <p:sp>
        <p:nvSpPr>
          <p:cNvPr id="32" name="Rectangle 31"/>
          <p:cNvSpPr/>
          <p:nvPr/>
        </p:nvSpPr>
        <p:spPr>
          <a:xfrm>
            <a:off x="6176772" y="4059936"/>
            <a:ext cx="5234940" cy="950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059936"/>
            <a:ext cx="64008" cy="9509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436168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437997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133088"/>
            <a:ext cx="4338828" cy="804672"/>
          </a:xfrm>
          <a:prstGeom prst="rect">
            <a:avLst/>
          </a:prstGeom>
          <a:noFill/>
        </p:spPr>
        <p:txBody>
          <a:bodyPr wrap="square" anchor="ctr">
            <a:spAutoFit/>
          </a:bodyPr>
          <a:lstStyle/>
          <a:p>
            <a:pPr algn="l">
              <a:spcAft>
                <a:spcPts val="400"/>
              </a:spcAft>
            </a:pPr>
            <a:r>
              <a:rPr sz="1200" b="0">
                <a:solidFill>
                  <a:srgbClr val="161B26"/>
                </a:solidFill>
                <a:latin typeface="Arial"/>
              </a:rPr>
              <a:t>Edit — assemble, caption, mix, preview and export a vertical video.</a:t>
            </a:r>
          </a:p>
        </p:txBody>
      </p:sp>
      <p:sp>
        <p:nvSpPr>
          <p:cNvPr id="37" name="Rectangle 36"/>
          <p:cNvSpPr/>
          <p:nvPr/>
        </p:nvSpPr>
        <p:spPr>
          <a:xfrm>
            <a:off x="777240" y="5175504"/>
            <a:ext cx="5234940" cy="950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175504"/>
            <a:ext cx="64008" cy="9509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960120" y="547725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60120" y="549554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7</a:t>
            </a:r>
          </a:p>
        </p:txBody>
      </p:sp>
      <p:sp>
        <p:nvSpPr>
          <p:cNvPr id="41" name="TextBox 40"/>
          <p:cNvSpPr txBox="1"/>
          <p:nvPr/>
        </p:nvSpPr>
        <p:spPr>
          <a:xfrm>
            <a:off x="1453896" y="5248656"/>
            <a:ext cx="4338828" cy="804672"/>
          </a:xfrm>
          <a:prstGeom prst="rect">
            <a:avLst/>
          </a:prstGeom>
          <a:noFill/>
        </p:spPr>
        <p:txBody>
          <a:bodyPr wrap="square" anchor="ctr">
            <a:spAutoFit/>
          </a:bodyPr>
          <a:lstStyle/>
          <a:p>
            <a:pPr algn="l">
              <a:spcAft>
                <a:spcPts val="400"/>
              </a:spcAft>
            </a:pPr>
            <a:r>
              <a:rPr sz="1200" b="0">
                <a:solidFill>
                  <a:srgbClr val="161B26"/>
                </a:solidFill>
                <a:latin typeface="Arial"/>
              </a:rPr>
              <a:t>Publish — package metadata, settings, rights, disclosure and adaptations.</a:t>
            </a:r>
          </a:p>
        </p:txBody>
      </p:sp>
      <p:sp>
        <p:nvSpPr>
          <p:cNvPr id="42" name="Rectangle 41"/>
          <p:cNvSpPr/>
          <p:nvPr/>
        </p:nvSpPr>
        <p:spPr>
          <a:xfrm>
            <a:off x="6176772" y="5175504"/>
            <a:ext cx="5234940" cy="950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176772" y="5175504"/>
            <a:ext cx="64008" cy="9509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359652" y="547725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59652" y="549554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8</a:t>
            </a:r>
          </a:p>
        </p:txBody>
      </p:sp>
      <p:sp>
        <p:nvSpPr>
          <p:cNvPr id="46" name="TextBox 45"/>
          <p:cNvSpPr txBox="1"/>
          <p:nvPr/>
        </p:nvSpPr>
        <p:spPr>
          <a:xfrm>
            <a:off x="6853428" y="5248656"/>
            <a:ext cx="4338828" cy="804672"/>
          </a:xfrm>
          <a:prstGeom prst="rect">
            <a:avLst/>
          </a:prstGeom>
          <a:noFill/>
        </p:spPr>
        <p:txBody>
          <a:bodyPr wrap="square" anchor="ctr">
            <a:spAutoFit/>
          </a:bodyPr>
          <a:lstStyle/>
          <a:p>
            <a:pPr algn="l">
              <a:spcAft>
                <a:spcPts val="400"/>
              </a:spcAft>
            </a:pPr>
            <a:r>
              <a:rPr sz="1200" b="0">
                <a:solidFill>
                  <a:srgbClr val="161B26"/>
                </a:solidFill>
                <a:latin typeface="Arial"/>
              </a:rPr>
              <a:t>Learn — diagnose synthetic performance data and design the next controlled test.</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FROM SOURCE TO LEARNING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Content Traceability Chain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Source</a:t>
            </a:r>
          </a:p>
          <a:p>
            <a:pPr algn="l">
              <a:spcAft>
                <a:spcPts val="300"/>
              </a:spcAft>
            </a:pPr>
            <a:r>
              <a:rPr sz="1200" b="0">
                <a:solidFill>
                  <a:srgbClr val="5B6372"/>
                </a:solidFill>
                <a:latin typeface="Arial"/>
              </a:rPr>
              <a:t>Approved brand fact, audience evidence or authoritative guidance.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Claim</a:t>
            </a:r>
          </a:p>
          <a:p>
            <a:pPr algn="l">
              <a:spcAft>
                <a:spcPts val="300"/>
              </a:spcAft>
            </a:pPr>
            <a:r>
              <a:rPr sz="1200" b="0">
                <a:solidFill>
                  <a:srgbClr val="5B6372"/>
                </a:solidFill>
                <a:latin typeface="Arial"/>
              </a:rPr>
              <a:t>The exact statement the source supports.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Beat</a:t>
            </a:r>
          </a:p>
          <a:p>
            <a:pPr algn="l">
              <a:spcAft>
                <a:spcPts val="300"/>
              </a:spcAft>
            </a:pPr>
            <a:r>
              <a:rPr sz="1200" b="0">
                <a:solidFill>
                  <a:srgbClr val="5B6372"/>
                </a:solidFill>
                <a:latin typeface="Arial"/>
              </a:rPr>
              <a:t>The timed message and media job that communicates the claim.</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Asset</a:t>
            </a:r>
          </a:p>
          <a:p>
            <a:pPr algn="l">
              <a:spcAft>
                <a:spcPts val="300"/>
              </a:spcAft>
            </a:pPr>
            <a:r>
              <a:rPr sz="1200" b="0">
                <a:solidFill>
                  <a:srgbClr val="5B6372"/>
                </a:solidFill>
                <a:latin typeface="Arial"/>
              </a:rPr>
              <a:t>The generated, recorded or licensed material used in the beat.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Approval</a:t>
            </a:r>
          </a:p>
          <a:p>
            <a:pPr algn="l">
              <a:spcAft>
                <a:spcPts val="300"/>
              </a:spcAft>
            </a:pPr>
            <a:r>
              <a:rPr sz="1200" b="0">
                <a:solidFill>
                  <a:srgbClr val="5B6372"/>
                </a:solidFill>
                <a:latin typeface="Arial"/>
              </a:rPr>
              <a:t>The human review of truth, rights, accessibility and disclosure.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Signal</a:t>
            </a:r>
          </a:p>
          <a:p>
            <a:pPr algn="l">
              <a:spcAft>
                <a:spcPts val="300"/>
              </a:spcAft>
            </a:pPr>
            <a:r>
              <a:rPr sz="1200" b="0">
                <a:solidFill>
                  <a:srgbClr val="5B6372"/>
                </a:solidFill>
                <a:latin typeface="Arial"/>
              </a:rPr>
              <a:t>The post-publication observation that informs the next test.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HUMAN REVIEW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Four Checks Before Any Export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Message</a:t>
            </a:r>
          </a:p>
          <a:p>
            <a:pPr algn="l">
              <a:spcAft>
                <a:spcPts val="300"/>
              </a:spcAft>
            </a:pPr>
            <a:r>
              <a:rPr sz="1200" b="0">
                <a:solidFill>
                  <a:srgbClr val="5B6372"/>
                </a:solidFill>
                <a:latin typeface="Arial"/>
              </a:rPr>
              <a:t>Does the body fulfil the opening promise for the intended audience?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Media</a:t>
            </a:r>
          </a:p>
          <a:p>
            <a:pPr algn="l">
              <a:spcAft>
                <a:spcPts val="300"/>
              </a:spcAft>
            </a:pPr>
            <a:r>
              <a:rPr sz="1200" b="0">
                <a:solidFill>
                  <a:srgbClr val="5B6372"/>
                </a:solidFill>
                <a:latin typeface="Arial"/>
              </a:rPr>
              <a:t>Are visuals, voice, captions, timing and sound coherent and readable?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Trust</a:t>
            </a:r>
          </a:p>
          <a:p>
            <a:pPr algn="l">
              <a:spcAft>
                <a:spcPts val="300"/>
              </a:spcAft>
            </a:pPr>
            <a:r>
              <a:rPr sz="1200" b="0">
                <a:solidFill>
                  <a:srgbClr val="5B6372"/>
                </a:solidFill>
                <a:latin typeface="Arial"/>
              </a:rPr>
              <a:t>Are facts, permissions, rights and AI disclosure complete?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Delivery</a:t>
            </a:r>
          </a:p>
          <a:p>
            <a:pPr algn="l">
              <a:spcAft>
                <a:spcPts val="300"/>
              </a:spcAft>
            </a:pPr>
            <a:r>
              <a:rPr sz="1200" b="0">
                <a:solidFill>
                  <a:srgbClr val="5B6372"/>
                </a:solidFill>
                <a:latin typeface="Arial"/>
              </a:rPr>
              <a:t>Are format, safe zones, settings, owner and next action correct?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Getting Started with Generative AI for TikTok</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Short-form video and GenAI · Tool setup · Recommendation signals and audience · Effective prompting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Day 1 morning · 2 labs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Getting Started with Generative AI for TikTok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Short-form story</a:t>
            </a:r>
          </a:p>
          <a:p>
            <a:pPr algn="l">
              <a:spcAft>
                <a:spcPts val="300"/>
              </a:spcAft>
            </a:pPr>
            <a:r>
              <a:rPr sz="1200" b="0">
                <a:solidFill>
                  <a:srgbClr val="5B6372"/>
                </a:solidFill>
                <a:latin typeface="Arial"/>
              </a:rPr>
              <a:t>A focused promise, fast proof and clear next action designed for vertical, mobile viewing.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Recommendation signals</a:t>
            </a:r>
          </a:p>
          <a:p>
            <a:pPr algn="l">
              <a:spcAft>
                <a:spcPts val="300"/>
              </a:spcAft>
            </a:pPr>
            <a:r>
              <a:rPr sz="1200" b="0">
                <a:solidFill>
                  <a:srgbClr val="5B6372"/>
                </a:solidFill>
                <a:latin typeface="Arial"/>
              </a:rPr>
              <a:t>Viewer interactions, content information and user context influence what each person is shown.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Production stack</a:t>
            </a:r>
          </a:p>
          <a:p>
            <a:pPr algn="l">
              <a:spcAft>
                <a:spcPts val="300"/>
              </a:spcAft>
            </a:pPr>
            <a:r>
              <a:rPr sz="1200" b="0">
                <a:solidFill>
                  <a:srgbClr val="5B6372"/>
                </a:solidFill>
                <a:latin typeface="Arial"/>
              </a:rPr>
              <a:t>An AI assistant plans; a generator creates candidate media; an editor assembles and checks the video.</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Prompt brief</a:t>
            </a:r>
          </a:p>
          <a:p>
            <a:pPr algn="l">
              <a:spcAft>
                <a:spcPts val="300"/>
              </a:spcAft>
            </a:pPr>
            <a:r>
              <a:rPr sz="1200" b="0">
                <a:solidFill>
                  <a:srgbClr val="5B6372"/>
                </a:solidFill>
                <a:latin typeface="Arial"/>
              </a:rPr>
              <a:t>Audience, purpose, source facts, creative constraints, output format and review gates make generation useful.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Introduction to Short-Form Video and Generative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Short-form video communicates one useful idea through a compact visual and audio sequence. Generative AI can propose concepts, draft scripts, create candidate images or clips, synthesize voice and accelerate edits, but it does not know the brand truth, audience context or usage rights unless a person supplies and checks them.</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production bottleneck is rarely a lack of generated material; it is choosing a relevant promise and turning it into a coherent viewing experience. A human-led workflow separates message decisions from media generation and keeps the creator accountable for truth, permission, safety and final quality.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Introduction to Short-Form Video and Generative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Define one audience, one viewing situation and one useful outcome.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Turn the outcome into a hook, supporting proof and next action.</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Generate candidate words, visuals and audio against the same brief.</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Assemble a rough cut, review it in context and remove anything unsupported.</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Export only after message, accessibility, rights and disclosure checks pass.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Introduction to Short-Form Video and Generative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Harbour Bean Co. wants busy office workers to improve bitter pantry coffee.</a:t>
            </a:r>
          </a:p>
          <a:p>
            <a:pPr>
              <a:spcAft>
                <a:spcPts val="1000"/>
              </a:spcAft>
            </a:pPr>
            <a:r>
              <a:rPr sz="1600" b="0">
                <a:solidFill>
                  <a:srgbClr val="161B26"/>
                </a:solidFill>
                <a:latin typeface="Arial"/>
              </a:rPr>
              <a:t>•  The video promises three practical fixes, demonstrates each fix and closes with a save-this checklist.</a:t>
            </a:r>
          </a:p>
          <a:p>
            <a:pPr>
              <a:spcAft>
                <a:spcPts val="1000"/>
              </a:spcAft>
            </a:pPr>
            <a:r>
              <a:rPr sz="1600" b="0">
                <a:solidFill>
                  <a:srgbClr val="161B26"/>
                </a:solidFill>
                <a:latin typeface="Arial"/>
              </a:rPr>
              <a:t>•  AI supplies draft options; the creator verifies every product and brewing claim against the synthetic source pack.</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You have a bounded message and approved source material.</a:t>
            </a:r>
          </a:p>
          <a:p>
            <a:pPr>
              <a:spcAft>
                <a:spcPts val="1000"/>
              </a:spcAft>
            </a:pPr>
            <a:r>
              <a:rPr sz="1400" b="0">
                <a:solidFill>
                  <a:srgbClr val="5B6372"/>
                </a:solidFill>
                <a:latin typeface="Arial"/>
              </a:rPr>
              <a:t>–  AI can reduce drafting or production time while a person reviews the result.</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idea depends on an invented claim, copied creator identity or unlicensed asset.</a:t>
            </a:r>
          </a:p>
          <a:p>
            <a:pPr>
              <a:spcAft>
                <a:spcPts val="1000"/>
              </a:spcAft>
            </a:pPr>
            <a:r>
              <a:rPr sz="1400" b="0">
                <a:solidFill>
                  <a:srgbClr val="5B6372"/>
                </a:solidFill>
                <a:latin typeface="Arial"/>
              </a:rPr>
              <a:t>–  The workflow would publish generated output without a full human preview.</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Introduction to Short-Form Video and Generative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clip looks polished but the viewer cannot state its one useful promise.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Rewrite the concept as audience + problem + promised value in one sentence.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Every scene supports the promise and the creator can trace its factual claims.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Setting Up AI Tools for Video Creation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practical tool stack has three roles: a language assistant for research and scripting, a media generator for candidate visuals or voice, and a nonlinear editor for timing, captions, sound and export. One product may cover several roles, but the files, settings and review gates should remain visible and portable.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Tool features, plans and labels change quickly. Designing around durable jobs rather than one button lets creators switch products, use an offline fallback and preserve the project when a feature or account is unavailable.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Setting Up AI Tools for Video Creation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Create one project folder with source, script, storyboard, media, edit and export subfolders.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Confirm access to an approved AI assistant and CapCut Desktop or an equivalent editor.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Set a 9:16 vertical canvas and a consistent naming convention before generating assets.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Record each generated asset's prompt, tool, date, source input and intended use.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an offline storyboard and manual-edit path for unavailable premium or regional features.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Setting Up AI Tools for Video Creation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C1373 project stores 01-source, 02-script, 03-media, 04-edit and 05-export artifacts.</a:t>
            </a:r>
          </a:p>
          <a:p>
            <a:pPr>
              <a:spcAft>
                <a:spcPts val="1000"/>
              </a:spcAft>
            </a:pPr>
            <a:r>
              <a:rPr sz="1600" b="0">
                <a:solidFill>
                  <a:srgbClr val="161B26"/>
                </a:solidFill>
                <a:latin typeface="Arial"/>
              </a:rPr>
              <a:t>•  A generated coffee-pour clip is saved with its prompt and rights note instead of remaining only in a tool history.</a:t>
            </a:r>
          </a:p>
          <a:p>
            <a:pPr>
              <a:spcAft>
                <a:spcPts val="1000"/>
              </a:spcAft>
            </a:pPr>
            <a:r>
              <a:rPr sz="1600" b="0">
                <a:solidFill>
                  <a:srgbClr val="161B26"/>
                </a:solidFill>
                <a:latin typeface="Arial"/>
              </a:rPr>
              <a:t>•  If text-to-video is unavailable, the storyboard is completed with supplied synthetic stills or authorised stock.</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Several tools contribute to one production and provenance must remain clear.</a:t>
            </a:r>
          </a:p>
          <a:p>
            <a:pPr>
              <a:spcAft>
                <a:spcPts val="1000"/>
              </a:spcAft>
            </a:pPr>
            <a:r>
              <a:rPr sz="1400" b="0">
                <a:solidFill>
                  <a:srgbClr val="5B6372"/>
                </a:solidFill>
                <a:latin typeface="Arial"/>
              </a:rPr>
              <a:t>–  You need a repeatable folder and file hand-off between ideation and editing.</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A tool requires protected business data that is not approved for that service.</a:t>
            </a:r>
          </a:p>
          <a:p>
            <a:pPr>
              <a:spcAft>
                <a:spcPts val="1000"/>
              </a:spcAft>
            </a:pPr>
            <a:r>
              <a:rPr sz="1400" b="0">
                <a:solidFill>
                  <a:srgbClr val="5B6372"/>
                </a:solidFill>
                <a:latin typeface="Arial"/>
              </a:rPr>
              <a:t>–  The production depends on one premium feature with no fallback or export route.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Setting Up AI Tools for Video Creation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Files are named final2-new-final and no one knows their source.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scene-purpose-version names and a simple asset register.</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Another learner can reopen the project and identify every required source file.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Understanding the TikTok Recommendation System and Audience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TikTok describes recommendation as a prediction process influenced mainly by user interactions, content information and user information. For many viewers, interactions such as watch time, completion, skips, likes, shares and comments carry substantial weight, while search also considers how well content matches the query.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There is no universal algorithm trick. Creators improve relevance by serving a clear audience need, earning attention honestly, making the subject legible through words and visuals, and studying how real viewers respond instead of optimising for myths.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Understanding the TikTok Recommendation System and Audience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Define a narrow audience job, tension and moment of need.</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Research patterns through TikTok Studio or Creative Center without copying another creator.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State the content promise in the opening words, visual and on-screen text.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Use keywords and context that accurately describe the video.</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Review retention and meaningful response signals after publication, then form one testable hypothesis.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Understanding the TikTok Recommendation System and Audience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Audience: office workers using basic pantry equipment.</a:t>
            </a:r>
          </a:p>
          <a:p>
            <a:pPr>
              <a:spcAft>
                <a:spcPts val="1000"/>
              </a:spcAft>
            </a:pPr>
            <a:r>
              <a:rPr sz="1600" b="0">
                <a:solidFill>
                  <a:srgbClr val="161B26"/>
                </a:solidFill>
                <a:latin typeface="Arial"/>
              </a:rPr>
              <a:t>•  Moment: the first sip tastes bitter and they want a quick fix before the next meeting.</a:t>
            </a:r>
          </a:p>
          <a:p>
            <a:pPr>
              <a:spcAft>
                <a:spcPts val="1000"/>
              </a:spcAft>
            </a:pPr>
            <a:r>
              <a:rPr sz="1600" b="0">
                <a:solidFill>
                  <a:srgbClr val="161B26"/>
                </a:solidFill>
                <a:latin typeface="Arial"/>
              </a:rPr>
              <a:t>•  Opening: a close-up of the brew plus 'Bitter office coffee? Fix these 3 things.'</a:t>
            </a:r>
          </a:p>
          <a:p>
            <a:pPr>
              <a:spcAft>
                <a:spcPts val="1000"/>
              </a:spcAft>
            </a:pPr>
            <a:r>
              <a:rPr sz="1600" b="0">
                <a:solidFill>
                  <a:srgbClr val="161B26"/>
                </a:solidFill>
                <a:latin typeface="Arial"/>
              </a:rPr>
              <a:t>•  The topic and wording are relevant even if a trending sound is not used.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You can state a specific viewer problem and observable benefit.</a:t>
            </a:r>
          </a:p>
          <a:p>
            <a:pPr>
              <a:spcAft>
                <a:spcPts val="1000"/>
              </a:spcAft>
            </a:pPr>
            <a:r>
              <a:rPr sz="1400" b="0">
                <a:solidFill>
                  <a:srgbClr val="5B6372"/>
                </a:solidFill>
                <a:latin typeface="Arial"/>
              </a:rPr>
              <a:t>–  Analytics or direct audience feedback can inform the next iteration.</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plan relies on engagement bait, misleading suspense or unrelated trending tags.</a:t>
            </a:r>
          </a:p>
          <a:p>
            <a:pPr>
              <a:spcAft>
                <a:spcPts val="1000"/>
              </a:spcAft>
            </a:pPr>
            <a:r>
              <a:rPr sz="1400" b="0">
                <a:solidFill>
                  <a:srgbClr val="5B6372"/>
                </a:solidFill>
                <a:latin typeface="Arial"/>
              </a:rPr>
              <a:t>–  A single post's result is treated as proof of a permanent platform rule.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Understanding the TikTok Recommendation System and Audience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brief says only 'people on TikTok'.</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Add audience, moment, problem, desired outcome and evidence source.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hook, content and next action all serve the same viewer job.</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Effective Prompting for Video Ideas and Content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video prompt is a production brief expressed as instructions. The course uses A-P-P-S-O-R: Audience, Purpose, Proof, Style, Output and Review. This structure grounds creative variation in source facts while making format and quality requirements observable.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Vague prompts generate generic lists and can hide invented claims. A structured prompt produces alternatives that can be compared, shows where evidence is missing and creates reusable hand-offs from idea to script, shot list and edit.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Effective Prompting for Video Ideas and Content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State the audience and one purpose for the video.</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Paste or attach the approved proof source and prohibit unsupported claims.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Set style constraints such as tone, pace, aspect ratio and brand cues.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Specify the requested table, duration, scenes and number of options.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Require a review ledger for facts, rights, disclosure and uncertainty.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Effective Prompting for Video Ideas and Content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Audience: busy Singapore office workers; purpose: teach three fixes for bitter pantry coffee.</a:t>
            </a:r>
          </a:p>
          <a:p>
            <a:pPr>
              <a:spcAft>
                <a:spcPts val="1000"/>
              </a:spcAft>
            </a:pPr>
            <a:r>
              <a:rPr sz="1600" b="0">
                <a:solidFill>
                  <a:srgbClr val="161B26"/>
                </a:solidFill>
                <a:latin typeface="Arial"/>
              </a:rPr>
              <a:t>•  Proof: use only the supplied Harbour Bean source pack.</a:t>
            </a:r>
          </a:p>
          <a:p>
            <a:pPr>
              <a:spcAft>
                <a:spcPts val="1000"/>
              </a:spcAft>
            </a:pPr>
            <a:r>
              <a:rPr sz="1600" b="0">
                <a:solidFill>
                  <a:srgbClr val="161B26"/>
                </a:solidFill>
                <a:latin typeface="Arial"/>
              </a:rPr>
              <a:t>•  Output: five 25–35 second concepts with hook, proof, scenes and save-worthy takeaway.</a:t>
            </a:r>
          </a:p>
          <a:p>
            <a:pPr>
              <a:spcAft>
                <a:spcPts val="1000"/>
              </a:spcAft>
            </a:pPr>
            <a:r>
              <a:rPr sz="1600" b="0">
                <a:solidFill>
                  <a:srgbClr val="161B26"/>
                </a:solidFill>
                <a:latin typeface="Arial"/>
              </a:rPr>
              <a:t>•  Review: flag any claim or asset that needs a source or permission.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source pack and desired output can be clearly bounded.</a:t>
            </a:r>
          </a:p>
          <a:p>
            <a:pPr>
              <a:spcAft>
                <a:spcPts val="1000"/>
              </a:spcAft>
            </a:pPr>
            <a:r>
              <a:rPr sz="1400" b="0">
                <a:solidFill>
                  <a:srgbClr val="5B6372"/>
                </a:solidFill>
                <a:latin typeface="Arial"/>
              </a:rPr>
              <a:t>–  You need several alternatives that share the same strategic brief.</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prompt asks AI to imitate a living creator or fabricate customer proof.</a:t>
            </a:r>
          </a:p>
          <a:p>
            <a:pPr>
              <a:spcAft>
                <a:spcPts val="1000"/>
              </a:spcAft>
            </a:pPr>
            <a:r>
              <a:rPr sz="1400" b="0">
                <a:solidFill>
                  <a:srgbClr val="5B6372"/>
                </a:solidFill>
                <a:latin typeface="Arial"/>
              </a:rPr>
              <a:t>–  The creator plans to select by excitement without checking fit, evidence and feasibility.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Effective Prompting for Video Ideas and Content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Five options are merely five phrasings of the same generic idea.</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Require distinct angles, mechanisms or viewer tensions and a comparison rubric.</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Each chosen idea links audience need, approved proof and a feasible production path.</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Getting Started with Generative AI for TikTok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the Audience, Tool and AI Prompt Brief</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Create and Score an AI Video Idea and Hook Bank</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Audience, Tool and AI Prompt Brief</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read the synthetic Harbour Bean brand and audience sources, define one precise viewer job, map the production stack and use the A-P-P-S-O-R pattern to generate a grounded video brief. You will review an initial and refined AI response instead of treating fluent creative output as verified truth.</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161B26"/>
                </a:solidFill>
                <a:latin typeface="Arial"/>
              </a:rPr>
              <a:t>A 01-audience-prompt-brief.md containing approved brand facts, an audience-job statement, recommendation-signal hypotheses, a tool-role map, one reusable A-P-P-S-O-R prompt, two AI-response versions and a claim-to-source ledger.</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Inspect sources</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Define audience</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Check tool roles</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Prompt and verify</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Text editor · ChatGPT, Claude or Copilot · supplied synthetic source pack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Audience, Tool and AI Prompt Brief</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Open 01-audience-prompt-brief.md. It must contain all ten source headings, one complete audience-job sentence, three labelled recommendation hypotheses, seven tool-role rows, a six-part A-P-P-S-O-R prompt, two labelled AI responses, no unsupported claim marked OK and all six readiness lines.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and Score an AI Video Idea and Hook Bank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turn the Lab 1 brief into an idea bank across mistake, demonstration, comparison, myth, checklist and story angles. You will write verbal, visual and text-overlay hooks, reject misleading options and score the survivors before locking the Harbour Bean production concept.</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161B26"/>
                </a:solidFill>
                <a:latin typeface="Arial"/>
              </a:rPr>
              <a:t>A completed 02-idea-hook-bank.csv with twelve concepts and a 02-selected-concept.md with the chosen angle, primary hook, alternate hook, body promise, proof source, next action, production risks and a one-variable future test.</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Generate angle families</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Write multimodal hooks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Score consistently</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Lock the concept</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Spreadsheet · text editor · AI assistant · idea-hook-bank-template.csv</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and Score an AI Video Idea and Hook Bank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02-idea-hook-bank.csv must contain exactly twelve eligible rows across all six angle families, three hook channels per row, five numeric scores, a total and decision note. 02-selected-concept.md must contain every required heading, one primary and one alternate hook, one stated test variable, at least three keep-constant items, the before/after fulfilment check and a Rejected ideas log containing every replaced ID and reason, or the line 'No ideas rejected'.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Getting Started with Generative AI for TikTok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LO1: explain the audience, recommendation-signal and responsible-use choices that govern a generative AI video workflow</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LO1: connect audience needs and recommendation signals to truthful, testable short-form video concepts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Generating Scripts, Ideas and Hooks with AI</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Ideas, angles and hooks · Scripts, captions and hashtags · Series and content calendars · Brand voice and style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Day 1 afternoon · 2 labs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Generating Scripts, Ideas and Hooks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Angle</a:t>
            </a:r>
          </a:p>
          <a:p>
            <a:pPr algn="l">
              <a:spcAft>
                <a:spcPts val="300"/>
              </a:spcAft>
            </a:pPr>
            <a:r>
              <a:rPr sz="1200" b="0">
                <a:solidFill>
                  <a:srgbClr val="5B6372"/>
                </a:solidFill>
                <a:latin typeface="Arial"/>
              </a:rPr>
              <a:t>The specific lens that makes a familiar subject useful to this audience now.</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Hook-body-close</a:t>
            </a:r>
          </a:p>
          <a:p>
            <a:pPr algn="l">
              <a:spcAft>
                <a:spcPts val="300"/>
              </a:spcAft>
            </a:pPr>
            <a:r>
              <a:rPr sz="1200" b="0">
                <a:solidFill>
                  <a:srgbClr val="5B6372"/>
                </a:solidFill>
                <a:latin typeface="Arial"/>
              </a:rPr>
              <a:t>The opening earns attention, the body delivers proof and the close completes the promise.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Beat sheet</a:t>
            </a:r>
          </a:p>
          <a:p>
            <a:pPr algn="l">
              <a:spcAft>
                <a:spcPts val="300"/>
              </a:spcAft>
            </a:pPr>
            <a:r>
              <a:rPr sz="1200" b="0">
                <a:solidFill>
                  <a:srgbClr val="5B6372"/>
                </a:solidFill>
                <a:latin typeface="Arial"/>
              </a:rPr>
              <a:t>A time-boxed map of spoken line, visual, on-screen text and sound for each moment.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Content system</a:t>
            </a:r>
          </a:p>
          <a:p>
            <a:pPr algn="l">
              <a:spcAft>
                <a:spcPts val="300"/>
              </a:spcAft>
            </a:pPr>
            <a:r>
              <a:rPr sz="1200" b="0">
                <a:solidFill>
                  <a:srgbClr val="5B6372"/>
                </a:solidFill>
                <a:latin typeface="Arial"/>
              </a:rPr>
              <a:t>A repeatable relationship among audience problem, pillar, format, evidence and next action.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Generating Video Ideas, Angles and Hooks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topic is broad; an angle selects the specific tension, perspective or transformation. A hook is the first clear signal of relevance, delivered through spoken words, on-screen text, visual action or sound. Effective hooks promise value without withholding essential context or misleading the viewer.</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AI can produce many openings quickly, but volume alone creates sameness. Separating angle generation from hook writing and scoring options against relevance, clarity, proof and production feasibility produces more useful variety.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Generating Video Ideas, Angles and Hooks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Turn the audience problem into several angle families: mistake, demonstration, comparison, myth, checklist or story.</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Generate verbal, visual and text-overlay hooks for each promising angle.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Remove hooks that overpromise or depend on unsupported urgency.</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Score options on audience fit, clarity, credible proof, novelty and feasibility.</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Select one primary hook and one alternate for a controlled future test.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Generating Video Ideas, Angles and Hooks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Topic: better office coffee.</a:t>
            </a:r>
          </a:p>
          <a:p>
            <a:pPr>
              <a:spcAft>
                <a:spcPts val="1000"/>
              </a:spcAft>
            </a:pPr>
            <a:r>
              <a:rPr sz="1600" b="0">
                <a:solidFill>
                  <a:srgbClr val="161B26"/>
                </a:solidFill>
                <a:latin typeface="Arial"/>
              </a:rPr>
              <a:t>•  Mistake angle: 'Your water is not the only reason office coffee tastes bitter.'</a:t>
            </a:r>
          </a:p>
          <a:p>
            <a:pPr>
              <a:spcAft>
                <a:spcPts val="1000"/>
              </a:spcAft>
            </a:pPr>
            <a:r>
              <a:rPr sz="1600" b="0">
                <a:solidFill>
                  <a:srgbClr val="161B26"/>
                </a:solidFill>
                <a:latin typeface="Arial"/>
              </a:rPr>
              <a:t>•  Demonstration angle: show two brews side by side before naming the three variables.</a:t>
            </a:r>
          </a:p>
          <a:p>
            <a:pPr>
              <a:spcAft>
                <a:spcPts val="1000"/>
              </a:spcAft>
            </a:pPr>
            <a:r>
              <a:rPr sz="1600" b="0">
                <a:solidFill>
                  <a:srgbClr val="161B26"/>
                </a:solidFill>
                <a:latin typeface="Arial"/>
              </a:rPr>
              <a:t>•  Checklist angle: 'Before your next cup, check grind, ratio and contact time.'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 verified subject can support several useful perspectives.</a:t>
            </a:r>
          </a:p>
          <a:p>
            <a:pPr>
              <a:spcAft>
                <a:spcPts val="1000"/>
              </a:spcAft>
            </a:pPr>
            <a:r>
              <a:rPr sz="1400" b="0">
                <a:solidFill>
                  <a:srgbClr val="5B6372"/>
                </a:solidFill>
                <a:latin typeface="Arial"/>
              </a:rPr>
              <a:t>–  The production team can demonstrate or source the promised proof.</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hook implies a result the body cannot deliver.</a:t>
            </a:r>
          </a:p>
          <a:p>
            <a:pPr>
              <a:spcAft>
                <a:spcPts val="1000"/>
              </a:spcAft>
            </a:pPr>
            <a:r>
              <a:rPr sz="1400" b="0">
                <a:solidFill>
                  <a:srgbClr val="5B6372"/>
                </a:solidFill>
                <a:latin typeface="Arial"/>
              </a:rPr>
              <a:t>–  The idea copies a recognisable creator's phrase, face, voice or signature treatment.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Generating Video Ideas, Angles and Hooks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hook is loud but no audience benefit appears in the first moments.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Name the viewer problem and promised takeaway explicitly.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colleague can predict the body from the hook and finds the promise fulfilled.</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Writing Scripts, Captions and Hashtags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short-form script coordinates narration, visuals, on-screen text and timing rather than presenting a block of prose. Captions improve comprehension and accessibility; post descriptions and hashtags add truthful context and discovery cues but should not be used to disguise an unrelated subject.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Writing each channel separately causes repetition or conflict. A beat sheet lets the creator see whether spoken lines, visuals and text complement one another, while a claim ledger prevents fluent AI copy from turning assumptions into facts.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Writing Scripts, Captions and Hashtags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Write the hook, body proof and close as a 25–35 second spoken arc.</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Split the arc into time-coded beats with one visual job per beat.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Use on-screen text to reinforce key words, not transcribe every design decision.</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Draft a plain-language post description and a small set of relevant hashtags.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Read aloud, time the script and verify every factual claim before recording.</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Writing Scripts, Captions and Hashtags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0–3s: bitter-cup reaction and problem statement.</a:t>
            </a:r>
          </a:p>
          <a:p>
            <a:pPr>
              <a:spcAft>
                <a:spcPts val="1000"/>
              </a:spcAft>
            </a:pPr>
            <a:r>
              <a:rPr sz="1600" b="0">
                <a:solidFill>
                  <a:srgbClr val="161B26"/>
                </a:solidFill>
                <a:latin typeface="Arial"/>
              </a:rPr>
              <a:t>•  3–21s: three fixes shown with labelled close-ups.</a:t>
            </a:r>
          </a:p>
          <a:p>
            <a:pPr>
              <a:spcAft>
                <a:spcPts val="1000"/>
              </a:spcAft>
            </a:pPr>
            <a:r>
              <a:rPr sz="1600" b="0">
                <a:solidFill>
                  <a:srgbClr val="161B26"/>
                </a:solidFill>
                <a:latin typeface="Arial"/>
              </a:rPr>
              <a:t>•  21–28s: before/after comparison and concise recap.</a:t>
            </a:r>
          </a:p>
          <a:p>
            <a:pPr>
              <a:spcAft>
                <a:spcPts val="1000"/>
              </a:spcAft>
            </a:pPr>
            <a:r>
              <a:rPr sz="1600" b="0">
                <a:solidFill>
                  <a:srgbClr val="161B26"/>
                </a:solidFill>
                <a:latin typeface="Arial"/>
              </a:rPr>
              <a:t>•  28–32s: 'Save this before your next office brew' and accessible post description.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message must fit a precise duration and coordinate several media channels.</a:t>
            </a:r>
          </a:p>
          <a:p>
            <a:pPr>
              <a:spcAft>
                <a:spcPts val="1000"/>
              </a:spcAft>
            </a:pPr>
            <a:r>
              <a:rPr sz="1400" b="0">
                <a:solidFill>
                  <a:srgbClr val="5B6372"/>
                </a:solidFill>
                <a:latin typeface="Arial"/>
              </a:rPr>
              <a:t>–  You can review the script against an approved source pack.</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caption includes irrelevant high-volume tags or hidden claims.</a:t>
            </a:r>
          </a:p>
          <a:p>
            <a:pPr>
              <a:spcAft>
                <a:spcPts val="1000"/>
              </a:spcAft>
            </a:pPr>
            <a:r>
              <a:rPr sz="1400" b="0">
                <a:solidFill>
                  <a:srgbClr val="5B6372"/>
                </a:solidFill>
                <a:latin typeface="Arial"/>
              </a:rPr>
              <a:t>–  The narration is generated in a person's voice without permission.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Writing Scripts, Captions and Hashtags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script reads well but runs far beyond the target duration.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Time it aloud, cut duplicate meaning and assign one job to each beat.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Every beat has a purpose, duration, visual and verified claim.</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Planning Series and Content Calendars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content series explores one audience problem through recurring, recognisable episodes. A content calendar connects each episode to a pillar, angle, source, format, production status and next action so the team can publish consistently without generating random filler.</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Scaling output without a plan often repeats ideas and weakens brand trust. A calendar balances useful formats and viewer stages, reveals asset dependencies early and creates a learning agenda for future videos.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Planning Series and Content Calendars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Choose three durable pillars tied to audience questions and brand credibility.</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Create repeatable series formats with a stable promise and flexible episode subject.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Map episodes to dates, evidence sources, owners, assets and review status.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Balance discovery, education, demonstration and conversation goals.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Record the hypothesis each publication will help explore.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Planning Series and Content Calendars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Pillar 1: office-brew fixes; Pillar 2: ingredient explainers; Pillar 3: quick equipment routines.</a:t>
            </a:r>
          </a:p>
          <a:p>
            <a:pPr>
              <a:spcAft>
                <a:spcPts val="1000"/>
              </a:spcAft>
            </a:pPr>
            <a:r>
              <a:rPr sz="1600" b="0">
                <a:solidFill>
                  <a:srgbClr val="161B26"/>
                </a:solidFill>
                <a:latin typeface="Arial"/>
              </a:rPr>
              <a:t>•  Series: '30-second pantry coffee clinic' with one observable problem per episode.</a:t>
            </a:r>
          </a:p>
          <a:p>
            <a:pPr>
              <a:spcAft>
                <a:spcPts val="1000"/>
              </a:spcAft>
            </a:pPr>
            <a:r>
              <a:rPr sz="1600" b="0">
                <a:solidFill>
                  <a:srgbClr val="161B26"/>
                </a:solidFill>
                <a:latin typeface="Arial"/>
              </a:rPr>
              <a:t>•  The calendar assigns one source, one owner and one measurable learning question to every row.</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 creator has several verified themes and needs a sustainable cadence.</a:t>
            </a:r>
          </a:p>
          <a:p>
            <a:pPr>
              <a:spcAft>
                <a:spcPts val="1000"/>
              </a:spcAft>
            </a:pPr>
            <a:r>
              <a:rPr sz="1400" b="0">
                <a:solidFill>
                  <a:srgbClr val="5B6372"/>
                </a:solidFill>
                <a:latin typeface="Arial"/>
              </a:rPr>
              <a:t>–  Production dependencies and review responsibilities must be visible.</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calendar prioritises posting frequency over useful, evidenced content.</a:t>
            </a:r>
          </a:p>
          <a:p>
            <a:pPr>
              <a:spcAft>
                <a:spcPts val="1000"/>
              </a:spcAft>
            </a:pPr>
            <a:r>
              <a:rPr sz="1400" b="0">
                <a:solidFill>
                  <a:srgbClr val="5B6372"/>
                </a:solidFill>
                <a:latin typeface="Arial"/>
              </a:rPr>
              <a:t>–  AI-generated repetitions are published merely to fill empty dates.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Planning Series and Content Calendars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Twelve rows repeat one sales message with different dates.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Vary the viewer job, angle and format while keeping the brand promise stable.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Each row has a distinct purpose, source, owner and learning hypothesis.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Keeping a Consistent Brand Voice and Style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Brand consistency is a system of choices: audience promise, point of view, vocabulary, tone, colour, typography, composition, pace, sound and disclosure practice. It does not mean every video is visually identical; it means variation remains recognisably governed.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Generative tools can drift between styles or imitate familiar internet aesthetics. A compact brand and prompt kit gives AI explicit boundaries, while side-by-side review ensures the final edit still sounds and looks like the organisation rather than the tool.</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Keeping a Consistent Brand Voice and Style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Define voice traits with positive guidance and concrete avoid rules.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Specify a small palette, type hierarchy, framing pattern and caption treatment.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Create reusable prompt anchors for subject, environment, lighting and mood.</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Compare generated assets for continuity, rights risk and unintended artefacts.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Record justified exceptions when an episode intentionally changes the pattern.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Keeping a Consistent Brand Voice and Style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Harbour Bean voice: practical, warm, precise; avoid luxury hype and guaranteed outcomes.</a:t>
            </a:r>
          </a:p>
          <a:p>
            <a:pPr>
              <a:spcAft>
                <a:spcPts val="1000"/>
              </a:spcAft>
            </a:pPr>
            <a:r>
              <a:rPr sz="1600" b="0">
                <a:solidFill>
                  <a:srgbClr val="161B26"/>
                </a:solidFill>
                <a:latin typeface="Arial"/>
              </a:rPr>
              <a:t>•  Visual anchor: daylight pantry setting, navy and copper accents, clean close-ups and readable cream captions.</a:t>
            </a:r>
          </a:p>
          <a:p>
            <a:pPr>
              <a:spcAft>
                <a:spcPts val="1000"/>
              </a:spcAft>
            </a:pPr>
            <a:r>
              <a:rPr sz="1600" b="0">
                <a:solidFill>
                  <a:srgbClr val="161B26"/>
                </a:solidFill>
                <a:latin typeface="Arial"/>
              </a:rPr>
              <a:t>•  Every output is edited back to these anchors before it enters the timeline.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Several people or tools contribute to one channel.</a:t>
            </a:r>
          </a:p>
          <a:p>
            <a:pPr>
              <a:spcAft>
                <a:spcPts val="1000"/>
              </a:spcAft>
            </a:pPr>
            <a:r>
              <a:rPr sz="1400" b="0">
                <a:solidFill>
                  <a:srgbClr val="5B6372"/>
                </a:solidFill>
                <a:latin typeface="Arial"/>
              </a:rPr>
              <a:t>–  A recurring series needs variation without losing recognition.</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brief requests imitation of a named living artist or creator.</a:t>
            </a:r>
          </a:p>
          <a:p>
            <a:pPr>
              <a:spcAft>
                <a:spcPts val="1000"/>
              </a:spcAft>
            </a:pPr>
            <a:r>
              <a:rPr sz="1400" b="0">
                <a:solidFill>
                  <a:srgbClr val="5B6372"/>
                </a:solidFill>
                <a:latin typeface="Arial"/>
              </a:rPr>
              <a:t>–  Consistency is used to justify retaining a defective or misleading generated asset.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Keeping a Consistent Brand Voice and Style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Each scene looks as if it belongs to a different brand.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Apply the same prompt anchors, palette, type and review checklist.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Independent reviewers identify the same voice and visual cues across assets.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Generating Scripts, Ideas and Hooks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3</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Write the Timed Script, Caption and Storyboard Pack</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the Brand Prompt Kit and Four-Week Content System</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the Timed Script, Caption and Storyboard Pack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use the Lab 2 concept card to draft a hook-body-close script, then transform it into a time-coded storyboard. You will add a plain-language description and relevant tags, read the script aloud, verify every claim and create the production hand-off for Lab 5.</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161B26"/>
                </a:solidFill>
                <a:latin typeface="Arial"/>
              </a:rPr>
              <a:t>A 03-video-script-storyboard.md containing the final narration, timed beat table, caption plan, post description, relevant hashtags, claim ledger, timing record and AI-draft-to-final edit comparison.</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Draft the arc</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Build timed beats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Write post copy</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Read, time and verify</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Text editor · timer · AI assistant · script-storyboard-template.md</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the Timed Script, Caption and Storyboard Pack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03-video-script-storyboard.md must contain the source brief, retained AI draft, final narration, two recorded timings with the second between 25 and 35 seconds, an edit comparison, at least six timed storyboard rows, five caption-emphasis words, a two-sentence description, three to five relevant hashtags and no unresolved claim in the production gate.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Brand Prompt Kit and Four-Week Content System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convert the Harbour Bean source and Lab 3 creative choices into a reusable brand prompt kit, three content pillars, a recurring series format and a four-week calendar. Each calendar row will name its viewer job, evidence, production owner and learning hypothesis.</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161B26"/>
                </a:solidFill>
                <a:latin typeface="Arial"/>
              </a:rPr>
              <a:t>A 04-brand-prompt-kit.md and completed 04-content-calendar.csv with three pillars, one recurring series, twelve distinct episodes, owners, evidence sources, rights state and testable learning questions.</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Define brand anchors</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Choose pillars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Plan 12 episodes</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Run consistency gates</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Text editor · spreadsheet · AI assistant · content-calendar.csv</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Brand Prompt Kit and Four-Week Content System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04-brand-prompt-kit.md must contain all thirteen brand fields, two reusable prompts, eight continuity checks and a 30-day production rhythm naming all six cadence points. 04-content-calendar.csv must contain exactly twelve complete episode rows, four per pillar and three per week, valid workflow and rights states, a named owner and one learning hypothesis plus success signal per row. No BLOCKED row may be scheduled.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Generating Scripts, Ideas and Hooks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LO2: generate and verify a hook-body-close script, post copy and production-ready beat sheet</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LO2: plan a consistent short-form series and calendar grounded in audience needs, brand rules and approved evidence</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Creating and Editing Videos with Generative AI</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Generated visuals and B-roll · Voiceovers, avatars and text-to-video · Editing, captions and effects · Music and transitions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COVERAGE Day 2 morning · 2 labs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Creating and Editing Videos with Generative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Shot function</a:t>
            </a:r>
          </a:p>
          <a:p>
            <a:pPr algn="l">
              <a:spcAft>
                <a:spcPts val="300"/>
              </a:spcAft>
            </a:pPr>
            <a:r>
              <a:rPr sz="1200" b="0">
                <a:solidFill>
                  <a:srgbClr val="5B6372"/>
                </a:solidFill>
                <a:latin typeface="Arial"/>
              </a:rPr>
              <a:t>Every visual should orient, demonstrate, prove, transition or support the next action.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Continuity</a:t>
            </a:r>
          </a:p>
          <a:p>
            <a:pPr algn="l">
              <a:spcAft>
                <a:spcPts val="300"/>
              </a:spcAft>
            </a:pPr>
            <a:r>
              <a:rPr sz="1200" b="0">
                <a:solidFill>
                  <a:srgbClr val="5B6372"/>
                </a:solidFill>
                <a:latin typeface="Arial"/>
              </a:rPr>
              <a:t>Subject, lighting, palette, direction and screen position remain coherent across generated scenes.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Editorial hierarchy</a:t>
            </a:r>
          </a:p>
          <a:p>
            <a:pPr algn="l">
              <a:spcAft>
                <a:spcPts val="300"/>
              </a:spcAft>
            </a:pPr>
            <a:r>
              <a:rPr sz="1200" b="0">
                <a:solidFill>
                  <a:srgbClr val="5B6372"/>
                </a:solidFill>
                <a:latin typeface="Arial"/>
              </a:rPr>
              <a:t>Timing, captions, voice and sound guide attention without competing for it.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Rights and disclosure</a:t>
            </a:r>
          </a:p>
          <a:p>
            <a:pPr algn="l">
              <a:spcAft>
                <a:spcPts val="300"/>
              </a:spcAft>
            </a:pPr>
            <a:r>
              <a:rPr sz="1200" b="0">
                <a:solidFill>
                  <a:srgbClr val="5B6372"/>
                </a:solidFill>
                <a:latin typeface="Arial"/>
              </a:rPr>
              <a:t>Source, permission, commercial music status and significant AI alteration are checked before use.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Generating Visuals, B-Roll and Images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Visual generation converts a written description and optional reference into candidate stills or clips. B-roll supports the main message by establishing place, demonstrating action, providing proof or smoothing a transition; it should not exist merely because a generator can make it.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Generated media can contain temporal instability, impossible details, embedded marks, visual bias or inconsistent products. A shot-function plan and contact-sheet review keep the creator focused on communication and reject defects before editing time is spent.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Generating Visuals, B-Roll and Images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Translate each beat into a shot function and required evidence.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Write prompts with subject, action, setting, camera, light, composition and exclusions.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Generate small batches and label every candidate with prompt and version.</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Review anatomy, object continuity, text, brand accuracy, rights and disclosure needs.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Select only assets that support the beat and can be cropped safely to 9:16.</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Generating Visuals, B-Roll and Images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Beat: demonstrate a steady pour over coffee grounds.</a:t>
            </a:r>
          </a:p>
          <a:p>
            <a:pPr>
              <a:spcAft>
                <a:spcPts val="1000"/>
              </a:spcAft>
            </a:pPr>
            <a:r>
              <a:rPr sz="1600" b="0">
                <a:solidFill>
                  <a:srgbClr val="161B26"/>
                </a:solidFill>
                <a:latin typeface="Arial"/>
              </a:rPr>
              <a:t>•  Prompt: close overhead view, neutral hands, daylight pantry, copper dripper, navy surface, vertical composition, no text or logos.</a:t>
            </a:r>
          </a:p>
          <a:p>
            <a:pPr>
              <a:spcAft>
                <a:spcPts val="1000"/>
              </a:spcAft>
            </a:pPr>
            <a:r>
              <a:rPr sz="1600" b="0">
                <a:solidFill>
                  <a:srgbClr val="161B26"/>
                </a:solidFill>
                <a:latin typeface="Arial"/>
              </a:rPr>
              <a:t>•  Candidates with changing dripper shape or unreadable packaging are rejected and logged.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 scene is illustrative and no truthful real-world capture is required.</a:t>
            </a:r>
          </a:p>
          <a:p>
            <a:pPr>
              <a:spcAft>
                <a:spcPts val="1000"/>
              </a:spcAft>
            </a:pPr>
            <a:r>
              <a:rPr sz="1400" b="0">
                <a:solidFill>
                  <a:srgbClr val="5B6372"/>
                </a:solidFill>
                <a:latin typeface="Arial"/>
              </a:rPr>
              <a:t>–  The prompt and resulting asset can be documented and reviewed.</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visual would imply a real event, endorsement or product result that did not occur.</a:t>
            </a:r>
          </a:p>
          <a:p>
            <a:pPr>
              <a:spcAft>
                <a:spcPts val="1000"/>
              </a:spcAft>
            </a:pPr>
            <a:r>
              <a:rPr sz="1400" b="0">
                <a:solidFill>
                  <a:srgbClr val="5B6372"/>
                </a:solidFill>
                <a:latin typeface="Arial"/>
              </a:rPr>
              <a:t>–  A real person's likeness, private location or protected asset is used without permission.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Generating Visuals, B-Roll and Images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asset is attractive but its action or object changes between frames.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Simplify the motion, shorten the clip or replace it with an authorised still plus camera movement.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selected asset performs one stated shot function without material artefacts.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AI Voiceovers, Avatars and Text-to-Video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Text-to-speech creates audio from a script; avatar tools combine generated or authorised presenters with speech; text-to-video creates moving scenes from text or images. These systems accelerate prototyping, localisation and pickup lines, but synthetic likeness and voice require consent, clear context and careful listening.</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natural-sounding voice can still mispronounce a brand, flatten meaning or imply a speaker identity that was never authorised. Reviewing intelligibility, pace, pronunciation, emotional fit and disclosure prevents speed from becoming deception.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AI Voiceovers, Avatars and Text-to-Video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Prepare a final, verified script with pronunciation notes and natural punctuation.</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Choose a licensed synthetic voice or record an authorised human voice.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Generate short segments so errors can be corrected without rebuilding the whole track.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Listen against the script, edit timing and keep music below the spoken message.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Record the tool, voice, date, permission and required disclosure in the asset register.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AI Voiceovers, Avatars and Text-to-Video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phrase 'one to sixteen brew ratio' is tested in a five-second voice sample first.</a:t>
            </a:r>
          </a:p>
          <a:p>
            <a:pPr>
              <a:spcAft>
                <a:spcPts val="1000"/>
              </a:spcAft>
            </a:pPr>
            <a:r>
              <a:rPr sz="1600" b="0">
                <a:solidFill>
                  <a:srgbClr val="161B26"/>
                </a:solidFill>
                <a:latin typeface="Arial"/>
              </a:rPr>
              <a:t>•  Mispronounced brand wording is respelled or recorded by an authorised speaker.</a:t>
            </a:r>
          </a:p>
          <a:p>
            <a:pPr>
              <a:spcAft>
                <a:spcPts val="1000"/>
              </a:spcAft>
            </a:pPr>
            <a:r>
              <a:rPr sz="1600" b="0">
                <a:solidFill>
                  <a:srgbClr val="161B26"/>
                </a:solidFill>
                <a:latin typeface="Arial"/>
              </a:rPr>
              <a:t>•  The final voiceover is divided by beat and aligned to the storyboard before visuals are generated.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 licensed synthetic voice improves accessibility, consistency or localisation.</a:t>
            </a:r>
          </a:p>
          <a:p>
            <a:pPr>
              <a:spcAft>
                <a:spcPts val="1000"/>
              </a:spcAft>
            </a:pPr>
            <a:r>
              <a:rPr sz="1400" b="0">
                <a:solidFill>
                  <a:srgbClr val="5B6372"/>
                </a:solidFill>
                <a:latin typeface="Arial"/>
              </a:rPr>
              <a:t>–  The audience will not be misled about who is speaking.</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workflow clones a person's voice or likeness without explicit permission.</a:t>
            </a:r>
          </a:p>
          <a:p>
            <a:pPr>
              <a:spcAft>
                <a:spcPts val="1000"/>
              </a:spcAft>
            </a:pPr>
            <a:r>
              <a:rPr sz="1400" b="0">
                <a:solidFill>
                  <a:srgbClr val="5B6372"/>
                </a:solidFill>
                <a:latin typeface="Arial"/>
              </a:rPr>
              <a:t>–  A realistic synthetic presenter would create a false endorsement or authoritative statement.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AI Voiceovers, Avatars and Text-to-Video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voice is intelligible but rushed, flat or mispronounces key terms.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Split the script, add punctuation and pronunciation guidance, then regenerate only the affected line.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listener can follow the message and identify synthetic use from the planned context or label.</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Editing, Captions and Effects with AI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Editing converts selected assets into a timed argument. AI features can detect scenes, remove pauses, reframe subjects and generate captions, but the editor still decides rhythm, emphasis, continuity and whether the automatic result is accurate.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Short-form attention is easily overloaded. A clear visual hierarchy, readable captions and deliberate cuts make the message understandable with sound on or off, while a full preview catches transcription errors and abrupt AI-assisted edits.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Editing, Captions and Effects with AI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Create a 9:16 project and assemble the voice or main action first.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Place visuals against the beat sheet and trim every clip to its communication job.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Generate captions, correct every word and break lines at natural phrase boundaries.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Apply restrained transitions, motion and effects only when they clarify change.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Preview full-screen on a phone-sized display and export a review copy.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Editing, Captions and Effects with AI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three fixes each receive a labelled close-up and a clean cut on the voiceover phrase.</a:t>
            </a:r>
          </a:p>
          <a:p>
            <a:pPr>
              <a:spcAft>
                <a:spcPts val="1000"/>
              </a:spcAft>
            </a:pPr>
            <a:r>
              <a:rPr sz="1600" b="0">
                <a:solidFill>
                  <a:srgbClr val="161B26"/>
                </a:solidFill>
                <a:latin typeface="Arial"/>
              </a:rPr>
              <a:t>•  Auto captions are corrected from 'contact thyme' to 'contact time' and kept clear of interface overlays.</a:t>
            </a:r>
          </a:p>
          <a:p>
            <a:pPr>
              <a:spcAft>
                <a:spcPts val="1000"/>
              </a:spcAft>
            </a:pPr>
            <a:r>
              <a:rPr sz="1600" b="0">
                <a:solidFill>
                  <a:srgbClr val="161B26"/>
                </a:solidFill>
                <a:latin typeface="Arial"/>
              </a:rPr>
              <a:t>•  A before/after comparison uses one simple split rather than several decorative effects.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Automatic transcription or reframing can accelerate a reviewed edit.</a:t>
            </a:r>
          </a:p>
          <a:p>
            <a:pPr>
              <a:spcAft>
                <a:spcPts val="1000"/>
              </a:spcAft>
            </a:pPr>
            <a:r>
              <a:rPr sz="1400" b="0">
                <a:solidFill>
                  <a:srgbClr val="5B6372"/>
                </a:solidFill>
                <a:latin typeface="Arial"/>
              </a:rPr>
              <a:t>–  The creator can correct errors and control the final timeline.</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Captions are assumed correct because the audio sounded clear.</a:t>
            </a:r>
          </a:p>
          <a:p>
            <a:pPr>
              <a:spcAft>
                <a:spcPts val="1000"/>
              </a:spcAft>
            </a:pPr>
            <a:r>
              <a:rPr sz="1400" b="0">
                <a:solidFill>
                  <a:srgbClr val="5B6372"/>
                </a:solidFill>
                <a:latin typeface="Arial"/>
              </a:rPr>
              <a:t>–  Effects compete with the message or conceal continuity problems.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Editing, Captions and Effects with AI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Important text is cropped, mistranscribed or hidden by platform controls.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safe-zone guides, shorten phrases and review every caption at playback speed.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video remains understandable without sound and comfortable with sound.</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Adding Music, Sound and Transitions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Audio has layers: voice or primary sound, music, ambience and effects. Transitions connect scenes in picture and sound. For brand or product content, TikTok recommends music from its Commercial Music Library unless the creator has all necessary rights for another track.</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Music creates energy but can also obscure speech or introduce a rights problem. Sound and transitions should support pacing, meaning and brand fit; a documented rights source and balanced mix are part of production quality.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Adding Music, Sound and Transitions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Choose the primary audio layer and set it before adding music.</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Select original, licensed or commercially cleared music and record its source.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Lower music beneath speech and use short fades to avoid clicks.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Add effects only where they clarify an action or emphasis.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Run a headphone, speaker and muted playback check before export.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Adding Music, Sound and Transitions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 quiet pour sound establishes the demonstration, then a cleared low-key beat supports the three fixes.</a:t>
            </a:r>
          </a:p>
          <a:p>
            <a:pPr>
              <a:spcAft>
                <a:spcPts val="1000"/>
              </a:spcAft>
            </a:pPr>
            <a:r>
              <a:rPr sz="1600" b="0">
                <a:solidFill>
                  <a:srgbClr val="161B26"/>
                </a:solidFill>
                <a:latin typeface="Arial"/>
              </a:rPr>
              <a:t>•  Music drops slightly under each spoken instruction and fades before the final call to action.</a:t>
            </a:r>
          </a:p>
          <a:p>
            <a:pPr>
              <a:spcAft>
                <a:spcPts val="1000"/>
              </a:spcAft>
            </a:pPr>
            <a:r>
              <a:rPr sz="1600" b="0">
                <a:solidFill>
                  <a:srgbClr val="161B26"/>
                </a:solidFill>
                <a:latin typeface="Arial"/>
              </a:rPr>
              <a:t>•  The rights log names the library, track, date and intended commercial use.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source license covers the intended channel and purpose.</a:t>
            </a:r>
          </a:p>
          <a:p>
            <a:pPr>
              <a:spcAft>
                <a:spcPts val="1000"/>
              </a:spcAft>
            </a:pPr>
            <a:r>
              <a:rPr sz="1400" b="0">
                <a:solidFill>
                  <a:srgbClr val="5B6372"/>
                </a:solidFill>
                <a:latin typeface="Arial"/>
              </a:rPr>
              <a:t>–  Sound contributes rhythm, clarity or an accessible cue.</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A trending song is used for brand promotion without commercial permission.</a:t>
            </a:r>
          </a:p>
          <a:p>
            <a:pPr>
              <a:spcAft>
                <a:spcPts val="1000"/>
              </a:spcAft>
            </a:pPr>
            <a:r>
              <a:rPr sz="1400" b="0">
                <a:solidFill>
                  <a:srgbClr val="5B6372"/>
                </a:solidFill>
                <a:latin typeface="Arial"/>
              </a:rPr>
              <a:t>–  Loud effects or rapid transitions reduce intelligibility or comfort.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Adding Music, Sound and Transitions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voice is hard to hear or the team cannot explain the music rights.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Rebalance the mix and replace the track with documented cleared audio.</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rights log is complete and the mix works on ordinary phone speakers.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Creating and Editing Videos with Generative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5</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Generate the Visual, B-Roll and Voiceover Asset Pack</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6</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Edit, Caption, Mix and Export the Vertical Video</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the Visual, B-Roll and Voiceover Asset Pack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500" b="0">
                <a:solidFill>
                  <a:srgbClr val="161B26"/>
                </a:solidFill>
                <a:latin typeface="Arial"/>
              </a:rPr>
              <a:t>You will translate the timed storyboard into precise visual and voice prompts, create candidate media with CapCut AI or another approved generator, and complete an asset register. If a generation feature is unavailable, you will use the same prompt with an approved alternative or create a storyboard placeholder in CapCut so the edit can still be completed.</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161B26"/>
                </a:solidFill>
                <a:latin typeface="Arial"/>
              </a:rPr>
              <a:t>A 03-media folder with accepted scene assets, plus any project-only placeholder clips, a voiceover track or recorded scratch narration, a 05-asset-register.csv and a 05-contact-sheet-review.md documenting prompt, version, source, continuity, rights, disclosure and accept/reject decisions.</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Plan shot functions</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Generate small batches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Review continuity</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Register every asset</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CapCut Desktop/AI video or approved generator · microphone or text-to-speech · spreadsheet · text editor</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the Visual, B-Roll and Voiceover Asset Pack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03-media folder must contain accepted scene assets for every generated or recorded file, while C1373-placeholders may supply missing beats as explicitly registered project-only clips; together they must cover at least six storyboard beats plus a voice track or scratch narration. 05-asset-register.csv must have a complete row for every generated, recorded or project-only item with no blank rights, permission, AI alteration, disclosure, continuity, quality or decision field. 05-contact-sheet-review.md must have one row for every candidate and placeholder. Asset files, project-only placeholders, register rows and review rows must reconcile one to one; no rejected asset may be marked for use.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Edit, Caption, Mix and Export the Vertical Video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create a CapCut Desktop project, assemble the storyboard beats, generate and correct captions, apply restrained transitions, balance voice and sound, preview the full result and export a review file. You will retain a quality log instead of relying on memory.</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A saved CapCut project, 06-harbour-bean-v1.mp4 and 06-edit-quality-log.md containing timeline, caption, continuity, audio, safe-zone, rights, disclosure and export evidence.</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Build the timeline</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Correct captions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Balance sound</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Run export gates</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CapCut Desktop · accepted Lab 5 media · headphones · phone-sized preview</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Edit, Caption, Mix and Export the Vertical Video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06-harbour-bean-v1.mp4 must open, use a 9:16 frame, run for 25–35 seconds, contain the hook, three fixes, recap and close, and remain understandable when muted. 06-edit-quality-log.md must record every gate, the five caption terms, both audio checks, three full previews, final export settings and any external-use restriction. The edit may contain no REJECT asset.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Creating and Editing Videos with Generative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LO3: create brand-consistent candidate media and document provenance, rights, continuity and disclosure decisions</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LO3: assemble a coherent 9:16 video and verify captions, audio, continuity, accessibility, rights and export settings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Publishing, Optimising and Scaling TikTok Content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Publishing and scheduling · Performance analysis and iteration · Cross-platform repurposing · Scaled production workflow</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COURSE COVERAGE Day 2 afternoon · 2 labs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Publishing, Optimising and Scaling TikTok Content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Publish gate</a:t>
            </a:r>
          </a:p>
          <a:p>
            <a:pPr algn="l">
              <a:spcAft>
                <a:spcPts val="300"/>
              </a:spcAft>
            </a:pPr>
            <a:r>
              <a:rPr sz="1200" b="0">
                <a:solidFill>
                  <a:srgbClr val="5B6372"/>
                </a:solidFill>
                <a:latin typeface="Arial"/>
              </a:rPr>
              <a:t>Message, metadata, accessibility, rights, disclosure and settings are reviewed before a post goes live.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Metric chain</a:t>
            </a:r>
          </a:p>
          <a:p>
            <a:pPr algn="l">
              <a:spcAft>
                <a:spcPts val="300"/>
              </a:spcAft>
            </a:pPr>
            <a:r>
              <a:rPr sz="1200" b="0">
                <a:solidFill>
                  <a:srgbClr val="5B6372"/>
                </a:solidFill>
                <a:latin typeface="Arial"/>
              </a:rPr>
              <a:t>Reach, retention, engagement and action metrics answer different questions at different stages.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One-variable test</a:t>
            </a:r>
          </a:p>
          <a:p>
            <a:pPr algn="l">
              <a:spcAft>
                <a:spcPts val="300"/>
              </a:spcAft>
            </a:pPr>
            <a:r>
              <a:rPr sz="1200" b="0">
                <a:solidFill>
                  <a:srgbClr val="5B6372"/>
                </a:solidFill>
                <a:latin typeface="Arial"/>
              </a:rPr>
              <a:t>Change one meaningful element while keeping the audience promise and evidence stable.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Production governance</a:t>
            </a:r>
          </a:p>
          <a:p>
            <a:pPr algn="l">
              <a:spcAft>
                <a:spcPts val="300"/>
              </a:spcAft>
            </a:pPr>
            <a:r>
              <a:rPr sz="1200" b="0">
                <a:solidFill>
                  <a:srgbClr val="5B6372"/>
                </a:solidFill>
                <a:latin typeface="Arial"/>
              </a:rPr>
              <a:t>Templates, owners, states, asset registers and stop rules enable quality at higher volume.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Publishing and Scheduling TikTok Videos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Publishing is the final packaging and governance step: video file, cover, description, relevant tags, accessibility, audience setting, disclosure, rights and timing. Scheduling separates production from release, but it does not remove the need for a final account-level preview and approval.</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technically correct export can still fail through clipped text, unclear metadata, an incorrect privacy setting or missing AI disclosure. A publish gate makes these visible and creates a recoverable record of what was approved.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Publishing and Scheduling TikTok Videos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Validate 9:16 framing, resolution, sound, captions and safe zones.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Write accurate cover text, description, keywords and relevant tags.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Complete rights, permission, commercial-content and AI-generated-content checks.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Choose audience, interaction and timing settings intentionally.</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Preview the final post screen, record approval and publish or schedule.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Publishing and Scheduling TikTok Videos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Harbour Bean video exports as MP4 at 1080 × 1920.</a:t>
            </a:r>
          </a:p>
          <a:p>
            <a:pPr>
              <a:spcAft>
                <a:spcPts val="1000"/>
              </a:spcAft>
            </a:pPr>
            <a:r>
              <a:rPr sz="1600" b="0">
                <a:solidFill>
                  <a:srgbClr val="161B26"/>
                </a:solidFill>
                <a:latin typeface="Arial"/>
              </a:rPr>
              <a:t>•  The description names the three coffee variables without adding new claims.</a:t>
            </a:r>
          </a:p>
          <a:p>
            <a:pPr>
              <a:spcAft>
                <a:spcPts val="1000"/>
              </a:spcAft>
            </a:pPr>
            <a:r>
              <a:rPr sz="1600" b="0">
                <a:solidFill>
                  <a:srgbClr val="161B26"/>
                </a:solidFill>
                <a:latin typeface="Arial"/>
              </a:rPr>
              <a:t>•  The checklist records synthetic voice and visuals, cleared music source and the appropriate creator label.</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account owner has reviewed the final file and platform settings.</a:t>
            </a:r>
          </a:p>
          <a:p>
            <a:pPr>
              <a:spcAft>
                <a:spcPts val="1000"/>
              </a:spcAft>
            </a:pPr>
            <a:r>
              <a:rPr sz="1400" b="0">
                <a:solidFill>
                  <a:srgbClr val="5B6372"/>
                </a:solidFill>
                <a:latin typeface="Arial"/>
              </a:rPr>
              <a:t>–  Every material asset and claim has a traceable source or permission.</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post screen introduces a new unsupported claim or removes necessary context.</a:t>
            </a:r>
          </a:p>
          <a:p>
            <a:pPr>
              <a:spcAft>
                <a:spcPts val="1000"/>
              </a:spcAft>
            </a:pPr>
            <a:r>
              <a:rPr sz="1400" b="0">
                <a:solidFill>
                  <a:srgbClr val="5B6372"/>
                </a:solidFill>
                <a:latin typeface="Arial"/>
              </a:rPr>
              <a:t>–  Disclosure or commercial-music requirements are unresolved.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Publishing and Scheduling TikTok Videos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right video is uploaded with the wrong cover, setting or disclosure.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a two-person or two-pass publish gate with saved evidence.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approval log reconstructs the file, metadata, settings and reviewer.</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Analysing Performance and Iterating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Analytics describe behaviour, not creative truth. TikTok Studio provides account and post metrics such as views, engagement and audience information. A useful analysis connects the content hypothesis to the relevant metric, compares like with like and states uncertainty before proposing the next test.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AI is good at organising a supplied dataset and suggesting questions, but it can over-explain small samples or confuse correlation with cause. A baseline, denominator, comparison window and one-variable test keep iteration disciplined.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Analysing Performance and Iterating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Restate the video's audience, promise and experiment hypothesis.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Inspect reach, early retention, completion, engagement and action metrics at the correct grain.</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Compare with a relevant baseline and note sample or data limitations.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Ask AI for observations, alternative explanations and missing evidence—not a guaranteed cause.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Choose one change, one success measure and one review window.</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Analysing Performance and Iterating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Synthetic data shows strong first-three-second hold but a drop during the second fix.</a:t>
            </a:r>
          </a:p>
          <a:p>
            <a:pPr>
              <a:spcAft>
                <a:spcPts val="1000"/>
              </a:spcAft>
            </a:pPr>
            <a:r>
              <a:rPr sz="1600" b="0">
                <a:solidFill>
                  <a:srgbClr val="161B26"/>
                </a:solidFill>
                <a:latin typeface="Arial"/>
              </a:rPr>
              <a:t>•  The team considers pace, visual clarity and caption density as hypotheses.</a:t>
            </a:r>
          </a:p>
          <a:p>
            <a:pPr>
              <a:spcAft>
                <a:spcPts val="1000"/>
              </a:spcAft>
            </a:pPr>
            <a:r>
              <a:rPr sz="1600" b="0">
                <a:solidFill>
                  <a:srgbClr val="161B26"/>
                </a:solidFill>
                <a:latin typeface="Arial"/>
              </a:rPr>
              <a:t>•  The next version shortens that beat while keeping hook, audience and offer constant.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 defined hypothesis and comparable baseline exist.</a:t>
            </a:r>
          </a:p>
          <a:p>
            <a:pPr>
              <a:spcAft>
                <a:spcPts val="1000"/>
              </a:spcAft>
            </a:pPr>
            <a:r>
              <a:rPr sz="1400" b="0">
                <a:solidFill>
                  <a:srgbClr val="5B6372"/>
                </a:solidFill>
                <a:latin typeface="Arial"/>
              </a:rPr>
              <a:t>–  The team can distinguish observations from interpretations.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One video's result is used to declare a universal platform rule.</a:t>
            </a:r>
          </a:p>
          <a:p>
            <a:pPr>
              <a:spcAft>
                <a:spcPts val="1000"/>
              </a:spcAft>
            </a:pPr>
            <a:r>
              <a:rPr sz="1400" b="0">
                <a:solidFill>
                  <a:srgbClr val="5B6372"/>
                </a:solidFill>
                <a:latin typeface="Arial"/>
              </a:rPr>
              <a:t>–  AI receives personal viewer data or invents reasons not present in the dataset.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Analysing Performance and Iterating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report lists metrics but no decision or uncertainty.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Link each metric to a question, label hypotheses and select one bounded test.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iteration plan names the variable, baseline, target and review date.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Repurposing Content Across Platforms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Repurposing preserves the core promise and evidence while adapting duration, framing, metadata, safe zones, pacing and audience expectations for another platform. It is redesign, not identical cross-posting or automatic cropping.</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strong source video can support several channels, but each surface has different controls and viewing contexts. An adaptation matrix prevents clipped subjects, duplicated captions and platform-inappropriate calls to action.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Repurposing Content Across Platforms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Identify the invariant message, proof and brand elements.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List destination format, duration, safe-zone, audio and metadata requirements.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Create a platform-specific cut from the clean master, not a downloaded watermarked post.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Rewrite the opening and next action for the destination audience context.</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Review captions, crop, rights and disclosure again before export.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Repurposing Content Across Platforms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32-second vertical master becomes a 25-second Reel and a 45-second Short with an expanded explanation.</a:t>
            </a:r>
          </a:p>
          <a:p>
            <a:pPr>
              <a:spcAft>
                <a:spcPts val="1000"/>
              </a:spcAft>
            </a:pPr>
            <a:r>
              <a:rPr sz="1600" b="0">
                <a:solidFill>
                  <a:srgbClr val="161B26"/>
                </a:solidFill>
                <a:latin typeface="Arial"/>
              </a:rPr>
              <a:t>•  The three verified fixes remain unchanged, but cover text and next action adapt to each surface.</a:t>
            </a:r>
          </a:p>
          <a:p>
            <a:pPr>
              <a:spcAft>
                <a:spcPts val="1000"/>
              </a:spcAft>
            </a:pPr>
            <a:r>
              <a:rPr sz="1600" b="0">
                <a:solidFill>
                  <a:srgbClr val="161B26"/>
                </a:solidFill>
                <a:latin typeface="Arial"/>
              </a:rPr>
              <a:t>•  Each export uses the clean project master and its own checklist row.</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core content remains relevant and rights cover the destination.</a:t>
            </a:r>
          </a:p>
          <a:p>
            <a:pPr>
              <a:spcAft>
                <a:spcPts val="1000"/>
              </a:spcAft>
            </a:pPr>
            <a:r>
              <a:rPr sz="1400" b="0">
                <a:solidFill>
                  <a:srgbClr val="5B6372"/>
                </a:solidFill>
                <a:latin typeface="Arial"/>
              </a:rPr>
              <a:t>–  A platform-specific change improves fit without changing the evidence.</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crop hides the demonstration or interface-safe text.</a:t>
            </a:r>
          </a:p>
          <a:p>
            <a:pPr>
              <a:spcAft>
                <a:spcPts val="1000"/>
              </a:spcAft>
            </a:pPr>
            <a:r>
              <a:rPr sz="1400" b="0">
                <a:solidFill>
                  <a:srgbClr val="5B6372"/>
                </a:solidFill>
                <a:latin typeface="Arial"/>
              </a:rPr>
              <a:t>–  A music or asset license does not cover the destination or commercial purpose.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Repurposing Content Across Platforms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same file is posted everywhere with clipped text and generic metadata.</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a destination matrix and create separate exports from the clean master.</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Each version passes format, message, rights and accessibility review.</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Scaling a Content Production Workflow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scalable workflow moves each content item through defined states—from brief and evidence to concept, script, assets, edit, review, publish and learn. Templates and AI reduce repeated effort; named owners, versioning, rights records and stop rules prevent quality from collapsing as volume grows.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More output magnifies weak briefs, unsupported claims and asset confusion. Production capacity should grow only when the team can see work in progress, reconstruct decisions and learn from published results.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Scaling a Content Production Workflow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Define required artifacts and entry/exit criteria for every production state.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Create reusable prompt, script, storyboard, asset-register, edit and publish templates.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Assign owners for factual review, rights, edit quality and account approval.</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Track cycle time, rework, blocked items and post-publication learning.</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Automate only low-risk transformations with human checks before external use.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Scaling a Content Production Workflow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Harbour Bean's board has Brief, Script, Assets, Edit, Review, Scheduled and Learn states.</a:t>
            </a:r>
          </a:p>
          <a:p>
            <a:pPr>
              <a:spcAft>
                <a:spcPts val="1000"/>
              </a:spcAft>
            </a:pPr>
            <a:r>
              <a:rPr sz="1600" b="0">
                <a:solidFill>
                  <a:srgbClr val="161B26"/>
                </a:solidFill>
                <a:latin typeface="Arial"/>
              </a:rPr>
              <a:t>•  An item cannot enter Edit without a verified script and asset register.</a:t>
            </a:r>
          </a:p>
          <a:p>
            <a:pPr>
              <a:spcAft>
                <a:spcPts val="1000"/>
              </a:spcAft>
            </a:pPr>
            <a:r>
              <a:rPr sz="1600" b="0">
                <a:solidFill>
                  <a:srgbClr val="161B26"/>
                </a:solidFill>
                <a:latin typeface="Arial"/>
              </a:rPr>
              <a:t>•  Weekly review examines both content signals and production defects before increasing cadence.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team repeats a stable workflow with clear controls and owners.</a:t>
            </a:r>
          </a:p>
          <a:p>
            <a:pPr>
              <a:spcAft>
                <a:spcPts val="1000"/>
              </a:spcAft>
            </a:pPr>
            <a:r>
              <a:rPr sz="1400" b="0">
                <a:solidFill>
                  <a:srgbClr val="5B6372"/>
                </a:solidFill>
                <a:latin typeface="Arial"/>
              </a:rPr>
              <a:t>–  Templates save time without hiding evidence, rights or approval status.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Automation would scrape, impersonate, spam or publish without review.</a:t>
            </a:r>
          </a:p>
          <a:p>
            <a:pPr>
              <a:spcAft>
                <a:spcPts val="1000"/>
              </a:spcAft>
            </a:pPr>
            <a:r>
              <a:rPr sz="1400" b="0">
                <a:solidFill>
                  <a:srgbClr val="5B6372"/>
                </a:solidFill>
                <a:latin typeface="Arial"/>
              </a:rPr>
              <a:t>–  The team measures volume while ignoring rework, rights risk or audience value.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Scaling a Content Production Workflow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Publishing volume rises while defects and rework become invisible.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Add state gates, named reviewers, cycle-time and defect measures.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Any post can be traced from source brief through assets, approval and learning.</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Publishing, Optimising and Scaling TikTok Content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7</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Prepare the Publish, Disclosure and Repurposing Pack</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8</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Analyse Performance and Build the Scaled Improvement Plan</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Prepare the Publish, Disclosure and Repurposing Pack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validate the Lab 6 export, create TikTok cover and post copy, resolve rights and AI disclosure, walk through the current upload controls with a private or stop-before-post practice setting, and design platform-specific adaptations from the clean master.</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161B26"/>
                </a:solidFill>
                <a:latin typeface="Arial"/>
              </a:rPr>
              <a:t>A 07-publish-and-repurpose-pack.md containing the final publish checklist, metadata, cover plan, rights and disclosure record, settings evidence, approval decision and a TikTok/Reels/Shorts adaptation matrix.</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Validate the export</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Package metadata</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Check settings and disclosure</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Design adaptations</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TikTok app or TikTok Studio practice view · text editor · Lab 6 MP4 and quality log</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Prepare the Publish, Disclosure and Repurposing Pack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07-publish-and-repurpose-pack.md must identify the exact Lab 6 export, contain the cover, description, three to five relevant hashtags, complete rights/disclosure record, every publish-gate item with a status, visible practice-control evidence supported by an existing screenshot file or a trainer-witnessed offline log, a named final decision and all twelve adaptation-matrix rows for three destinations. No BLOCKED item may be described as approved.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Analyse Performance and Build the Scaled Improvement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analyse supplied synthetic TikTok post data, use AI to organise—but not invent—findings, select one variable for the next version and convert the Lab 4 calendar into a governed production board with owners, gates, measures and stop rules.</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161B26"/>
                </a:solidFill>
                <a:latin typeface="Arial"/>
              </a:rPr>
              <a:t>A completed 08-performance-calculations.csv, an 08-performance-iteration-plan.md and 08-production-board.csv with traceable observations, alternative explanations, a controlled test, workflow states, owners, entry/exit gates and a 30-day learning cadence.</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Calculate comparable metrics</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Separate observation from cause</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Design one test</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Govern the pipeline</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Spreadsheet · text editor · AI assistant · synthetic-tiktok-analytics.csv · Lab 4 calendar</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Analyse Performance and Build the Scaled Improvement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08-performance-calculations.csv must contain all five rate columns with valid percentages for every row. 08-performance-iteration-plan.md must contain the five Lab 7 hand-off fields, four checked numeric observations, at least two alternative explanations for each material pattern, missing evidence, exactly one changed variable, four or more keep-constant items, a baseline, success signal, guardrail, window and stop/continue rule. 08-production-board.csv must contain six rows, valid states, all ten governance fields and no blocked item in Scheduled. The iteration plan must also contain all four weekly cadence points, all five named process measures and all four stop rules.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Recap — Publishing, Optimising and Scaling TikTok Content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LO4: package a reviewed video for TikTok and adapt its invariant message to other short-form destinations</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LO4: interpret post metrics cautiously, choose a one-variable iteration and govern a repeatable production workflow</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Audience &amp; AI</a:t>
            </a:r>
          </a:p>
          <a:p>
            <a:pPr algn="l">
              <a:spcAft>
                <a:spcPts val="300"/>
              </a:spcAft>
            </a:pPr>
            <a:r>
              <a:rPr sz="1300" b="0">
                <a:solidFill>
                  <a:srgbClr val="5B6372"/>
                </a:solidFill>
                <a:latin typeface="Arial"/>
              </a:rPr>
              <a:t>Explain how short-form recommendation systems, audience signals and responsible generative AI practices shape video decisions.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Ideate &amp; Script</a:t>
            </a:r>
          </a:p>
          <a:p>
            <a:pPr algn="l">
              <a:spcAft>
                <a:spcPts val="300"/>
              </a:spcAft>
            </a:pPr>
            <a:r>
              <a:rPr sz="1300" b="0">
                <a:solidFill>
                  <a:srgbClr val="5B6372"/>
                </a:solidFill>
                <a:latin typeface="Arial"/>
              </a:rPr>
              <a:t>Use structured prompts to generate audience-relevant ideas, hooks, scripts, captions, hashtags and a coherent content plan.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Create &amp; Edit</a:t>
            </a:r>
          </a:p>
          <a:p>
            <a:pPr algn="l">
              <a:spcAft>
                <a:spcPts val="300"/>
              </a:spcAft>
            </a:pPr>
            <a:r>
              <a:rPr sz="1300" b="0">
                <a:solidFill>
                  <a:srgbClr val="5B6372"/>
                </a:solidFill>
                <a:latin typeface="Arial"/>
              </a:rPr>
              <a:t>Create and edit a brand-consistent vertical video with generated visuals, voiceover, captions, sound and a documented rights check.</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Publish &amp; Improve</a:t>
            </a:r>
          </a:p>
          <a:p>
            <a:pPr algn="l">
              <a:spcAft>
                <a:spcPts val="300"/>
              </a:spcAft>
            </a:pPr>
            <a:r>
              <a:rPr sz="1300" b="0">
                <a:solidFill>
                  <a:srgbClr val="5B6372"/>
                </a:solidFill>
                <a:latin typeface="Arial"/>
              </a:rPr>
              <a:t>Prepare, publish, analyse, repurpose and scale short-form video content through an evidence-led production workflow.</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 Practical 30-Day Application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Week 1 — approve the brand source pack, audience and content pillars.</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Week 2 — script and produce two variants from one evidence-based idea.</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Week 3 — publish through the account owner's gate and capture comparable signals.</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Week 4 — review production defects and audience response, then choose one controlled improvement.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Keep your downloaded C1373 course files and use the lab checkpoints to restart safely.</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CREATE WITH PURPOSE · VERIFY WITH CARE · LEARN FROM SIGNALS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now have a complete human-led workflow for planning, generating, editing, publishing and improving short-form video with generative AI.</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Video Creation  ·  C1373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